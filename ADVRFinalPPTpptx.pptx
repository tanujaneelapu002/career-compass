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embeddedFontLst>
    <p:embeddedFont>
      <p:font typeface="Inter Bold"/>
      <p:regular r:id="rId201314"/>
    </p:embeddedFont>
    <p:embeddedFont>
      <p:font typeface="Inter"/>
      <p:regular r:id="rId201315"/>
    </p:embeddedFont>
    <p:embeddedFont>
      <p:font typeface="Inter Black"/>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image" Target="../media/image-2-1.png"/><Relationship Id="rId8" Type="http://schemas.openxmlformats.org/officeDocument/2006/relationships/image" Target="../media/image-2-2.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9.png"/><Relationship Id="rId12" Type="http://schemas.openxmlformats.org/officeDocument/2006/relationships/image" Target="../media/image-2-10.svg"/><Relationship Id="rId13" Type="http://schemas.openxmlformats.org/officeDocument/2006/relationships/image" Target="../media/image-2-9.png"/><Relationship Id="rId14" Type="http://schemas.openxmlformats.org/officeDocument/2006/relationships/image" Target="../media/image-2-10.svg"/><Relationship Id="rId15" Type="http://schemas.openxmlformats.org/officeDocument/2006/relationships/image" Target="../media/image-2-9.png"/><Relationship Id="rId16" Type="http://schemas.openxmlformats.org/officeDocument/2006/relationships/image" Target="../media/image-2-10.svg"/><Relationship Id="rId17" Type="http://schemas.openxmlformats.org/officeDocument/2006/relationships/image" Target="../media/image-2-17.png"/><Relationship Id="rId18" Type="http://schemas.openxmlformats.org/officeDocument/2006/relationships/image" Target="../media/image-2-18.svg"/><Relationship Id="rId19" Type="http://schemas.openxmlformats.org/officeDocument/2006/relationships/image" Target="../media/image-2-17.png"/><Relationship Id="rId20" Type="http://schemas.openxmlformats.org/officeDocument/2006/relationships/image" Target="../media/image-2-18.svg"/><Relationship Id="rId21" Type="http://schemas.openxmlformats.org/officeDocument/2006/relationships/image" Target="../media/image-2-17.png"/><Relationship Id="rId22" Type="http://schemas.openxmlformats.org/officeDocument/2006/relationships/image" Target="../media/image-2-18.svg"/><Relationship Id="rId23" Type="http://schemas.openxmlformats.org/officeDocument/2006/relationships/slideLayout" Target="../slideLayouts/slideLayout2.xml"/><Relationship Id="rId2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slideLayout" Target="../slideLayouts/slideLayout2.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1.png"/><Relationship Id="rId10" Type="http://schemas.openxmlformats.org/officeDocument/2006/relationships/image" Target="../media/image-4-2.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image" Target="../media/image-3-9.png"/><Relationship Id="rId14" Type="http://schemas.openxmlformats.org/officeDocument/2006/relationships/image" Target="../media/image-3-10.svg"/><Relationship Id="rId15" Type="http://schemas.openxmlformats.org/officeDocument/2006/relationships/image" Target="../media/image-4-15.png"/><Relationship Id="rId16" Type="http://schemas.openxmlformats.org/officeDocument/2006/relationships/image" Target="../media/image-4-16.svg"/><Relationship Id="rId17" Type="http://schemas.openxmlformats.org/officeDocument/2006/relationships/slideLayout" Target="../slideLayouts/slideLayout2.xml"/><Relationship Id="rId1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1.png"/><Relationship Id="rId6" Type="http://schemas.openxmlformats.org/officeDocument/2006/relationships/image" Target="../media/image-5-2.svg"/><Relationship Id="rId7" Type="http://schemas.openxmlformats.org/officeDocument/2006/relationships/image" Target="../media/image-3-3.png"/><Relationship Id="rId8" Type="http://schemas.openxmlformats.org/officeDocument/2006/relationships/image" Target="../media/image-3-4.svg"/><Relationship Id="rId9" Type="http://schemas.openxmlformats.org/officeDocument/2006/relationships/image" Target="../media/image-5-1.png"/><Relationship Id="rId10" Type="http://schemas.openxmlformats.org/officeDocument/2006/relationships/image" Target="../media/image-5-2.svg"/><Relationship Id="rId11" Type="http://schemas.openxmlformats.org/officeDocument/2006/relationships/image" Target="../media/image-4-7.png"/><Relationship Id="rId12" Type="http://schemas.openxmlformats.org/officeDocument/2006/relationships/image" Target="../media/image-4-8.svg"/><Relationship Id="rId13" Type="http://schemas.openxmlformats.org/officeDocument/2006/relationships/image" Target="../media/image-5-13.png"/><Relationship Id="rId14" Type="http://schemas.openxmlformats.org/officeDocument/2006/relationships/image" Target="../media/image-5-14.svg"/><Relationship Id="rId15" Type="http://schemas.openxmlformats.org/officeDocument/2006/relationships/image" Target="../media/image-5-15.png"/><Relationship Id="rId16" Type="http://schemas.openxmlformats.org/officeDocument/2006/relationships/image" Target="../media/image-5-16.svg"/><Relationship Id="rId17" Type="http://schemas.openxmlformats.org/officeDocument/2006/relationships/image" Target="../media/image-5-13.png"/><Relationship Id="rId18" Type="http://schemas.openxmlformats.org/officeDocument/2006/relationships/image" Target="../media/image-5-14.svg"/><Relationship Id="rId19" Type="http://schemas.openxmlformats.org/officeDocument/2006/relationships/image" Target="../media/image-5-19.png"/><Relationship Id="rId20" Type="http://schemas.openxmlformats.org/officeDocument/2006/relationships/image" Target="../media/image-5-20.svg"/><Relationship Id="rId21" Type="http://schemas.openxmlformats.org/officeDocument/2006/relationships/slideLayout" Target="../slideLayouts/slideLayout2.xml"/><Relationship Id="rId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image" Target="../media/image-6-9.png"/><Relationship Id="rId14" Type="http://schemas.openxmlformats.org/officeDocument/2006/relationships/image" Target="../media/image-6-10.svg"/><Relationship Id="rId15" Type="http://schemas.openxmlformats.org/officeDocument/2006/relationships/image" Target="../media/image-6-15.png"/><Relationship Id="rId16" Type="http://schemas.openxmlformats.org/officeDocument/2006/relationships/image" Target="../media/image-6-16.svg"/><Relationship Id="rId17" Type="http://schemas.openxmlformats.org/officeDocument/2006/relationships/image" Target="../media/image-6-9.png"/><Relationship Id="rId18" Type="http://schemas.openxmlformats.org/officeDocument/2006/relationships/image" Target="../media/image-6-10.svg"/><Relationship Id="rId19" Type="http://schemas.openxmlformats.org/officeDocument/2006/relationships/image" Target="../media/image-6-19.png"/><Relationship Id="rId20" Type="http://schemas.openxmlformats.org/officeDocument/2006/relationships/image" Target="../media/image-6-20.svg"/><Relationship Id="rId21" Type="http://schemas.openxmlformats.org/officeDocument/2006/relationships/image" Target="../media/image-6-9.png"/><Relationship Id="rId22" Type="http://schemas.openxmlformats.org/officeDocument/2006/relationships/image" Target="../media/image-6-10.svg"/><Relationship Id="rId23" Type="http://schemas.openxmlformats.org/officeDocument/2006/relationships/image" Target="../media/image-6-23.png"/><Relationship Id="rId24" Type="http://schemas.openxmlformats.org/officeDocument/2006/relationships/image" Target="../media/image-6-24.svg"/><Relationship Id="rId25" Type="http://schemas.openxmlformats.org/officeDocument/2006/relationships/image" Target="../media/image-6-9.png"/><Relationship Id="rId26" Type="http://schemas.openxmlformats.org/officeDocument/2006/relationships/image" Target="../media/image-6-10.svg"/><Relationship Id="rId27" Type="http://schemas.openxmlformats.org/officeDocument/2006/relationships/image" Target="../media/image-6-27.png"/><Relationship Id="rId28" Type="http://schemas.openxmlformats.org/officeDocument/2006/relationships/image" Target="../media/image-6-28.svg"/><Relationship Id="rId29" Type="http://schemas.openxmlformats.org/officeDocument/2006/relationships/image" Target="../media/image-6-9.png"/><Relationship Id="rId30" Type="http://schemas.openxmlformats.org/officeDocument/2006/relationships/image" Target="../media/image-6-10.svg"/><Relationship Id="rId31" Type="http://schemas.openxmlformats.org/officeDocument/2006/relationships/image" Target="../media/image-6-31.png"/><Relationship Id="rId32" Type="http://schemas.openxmlformats.org/officeDocument/2006/relationships/image" Target="../media/image-6-32.svg"/><Relationship Id="rId33" Type="http://schemas.openxmlformats.org/officeDocument/2006/relationships/image" Target="../media/image-6-9.png"/><Relationship Id="rId34" Type="http://schemas.openxmlformats.org/officeDocument/2006/relationships/image" Target="../media/image-6-10.svg"/><Relationship Id="rId35" Type="http://schemas.openxmlformats.org/officeDocument/2006/relationships/image" Target="../media/image-6-35.png"/><Relationship Id="rId36" Type="http://schemas.openxmlformats.org/officeDocument/2006/relationships/image" Target="../media/image-6-36.svg"/><Relationship Id="rId37" Type="http://schemas.openxmlformats.org/officeDocument/2006/relationships/image" Target="../media/image-6-9.png"/><Relationship Id="rId38" Type="http://schemas.openxmlformats.org/officeDocument/2006/relationships/image" Target="../media/image-6-10.svg"/><Relationship Id="rId39" Type="http://schemas.openxmlformats.org/officeDocument/2006/relationships/image" Target="../media/image-6-39.png"/><Relationship Id="rId40" Type="http://schemas.openxmlformats.org/officeDocument/2006/relationships/image" Target="../media/image-6-40.svg"/><Relationship Id="rId41" Type="http://schemas.openxmlformats.org/officeDocument/2006/relationships/image" Target="../media/image-6-9.png"/><Relationship Id="rId42" Type="http://schemas.openxmlformats.org/officeDocument/2006/relationships/image" Target="../media/image-6-10.svg"/><Relationship Id="rId43" Type="http://schemas.openxmlformats.org/officeDocument/2006/relationships/image" Target="../media/image-6-43.png"/><Relationship Id="rId44" Type="http://schemas.openxmlformats.org/officeDocument/2006/relationships/image" Target="../media/image-6-44.svg"/><Relationship Id="rId45" Type="http://schemas.openxmlformats.org/officeDocument/2006/relationships/image" Target="../media/image-6-45.png"/><Relationship Id="rId46" Type="http://schemas.openxmlformats.org/officeDocument/2006/relationships/image" Target="../media/image-6-46.svg"/><Relationship Id="rId47" Type="http://schemas.openxmlformats.org/officeDocument/2006/relationships/image" Target="../media/image-6-47.png"/><Relationship Id="rId48" Type="http://schemas.openxmlformats.org/officeDocument/2006/relationships/image" Target="../media/image-6-48.svg"/><Relationship Id="rId49" Type="http://schemas.openxmlformats.org/officeDocument/2006/relationships/image" Target="../media/image-6-45.png"/><Relationship Id="rId50" Type="http://schemas.openxmlformats.org/officeDocument/2006/relationships/image" Target="../media/image-6-46.svg"/><Relationship Id="rId51" Type="http://schemas.openxmlformats.org/officeDocument/2006/relationships/image" Target="../media/image-6-51.png"/><Relationship Id="rId52" Type="http://schemas.openxmlformats.org/officeDocument/2006/relationships/image" Target="../media/image-6-52.svg"/><Relationship Id="rId53" Type="http://schemas.openxmlformats.org/officeDocument/2006/relationships/slideLayout" Target="../slideLayouts/slideLayout2.xml"/><Relationship Id="rId5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slideLayout" Target="../slideLayouts/slideLayout2.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1.png"/><Relationship Id="rId6" Type="http://schemas.openxmlformats.org/officeDocument/2006/relationships/image" Target="../media/image-11-2.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image" Target="../media/image-11-1.png"/><Relationship Id="rId10" Type="http://schemas.openxmlformats.org/officeDocument/2006/relationships/image" Target="../media/image-11-2.svg"/><Relationship Id="rId11" Type="http://schemas.openxmlformats.org/officeDocument/2006/relationships/image" Target="../media/image-11-11.png"/><Relationship Id="rId12" Type="http://schemas.openxmlformats.org/officeDocument/2006/relationships/image" Target="../media/image-11-12.svg"/><Relationship Id="rId13" Type="http://schemas.openxmlformats.org/officeDocument/2006/relationships/slideLayout" Target="../slideLayouts/slideLayout2.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1.png"/><Relationship Id="rId6" Type="http://schemas.openxmlformats.org/officeDocument/2006/relationships/image" Target="../media/image-12-2.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png"/><Relationship Id="rId11" Type="http://schemas.openxmlformats.org/officeDocument/2006/relationships/image" Target="../media/image-12-2.svg"/><Relationship Id="rId12" Type="http://schemas.openxmlformats.org/officeDocument/2006/relationships/image" Target="../media/image-12-12.png"/><Relationship Id="rId13" Type="http://schemas.openxmlformats.org/officeDocument/2006/relationships/image" Target="../media/image-12-13.svg"/><Relationship Id="rId14" Type="http://schemas.openxmlformats.org/officeDocument/2006/relationships/slideLayout" Target="../slideLayouts/slideLayout2.xml"/><Relationship Id="rId1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13-1.png"/><Relationship Id="rId6" Type="http://schemas.openxmlformats.org/officeDocument/2006/relationships/image" Target="../media/image-13-2.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image" Target="../media/image-13-1.png"/><Relationship Id="rId10" Type="http://schemas.openxmlformats.org/officeDocument/2006/relationships/image" Target="../media/image-13-2.svg"/><Relationship Id="rId11" Type="http://schemas.openxmlformats.org/officeDocument/2006/relationships/image" Target="../media/image-4-7.png"/><Relationship Id="rId12" Type="http://schemas.openxmlformats.org/officeDocument/2006/relationships/image" Target="../media/image-4-8.svg"/><Relationship Id="rId13" Type="http://schemas.openxmlformats.org/officeDocument/2006/relationships/image" Target="../media/image-13-1.png"/><Relationship Id="rId14" Type="http://schemas.openxmlformats.org/officeDocument/2006/relationships/image" Target="../media/image-13-2.svg"/><Relationship Id="rId15" Type="http://schemas.openxmlformats.org/officeDocument/2006/relationships/image" Target="../media/image-13-15.png"/><Relationship Id="rId16" Type="http://schemas.openxmlformats.org/officeDocument/2006/relationships/image" Target="../media/image-13-16.svg"/><Relationship Id="rId17" Type="http://schemas.openxmlformats.org/officeDocument/2006/relationships/slideLayout" Target="../slideLayouts/slideLayout2.xml"/><Relationship Id="rId1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svg"/><Relationship Id="rId4" Type="http://schemas.openxmlformats.org/officeDocument/2006/relationships/image" Target="../media/image-14-4.png"/><Relationship Id="rId5" Type="http://schemas.openxmlformats.org/officeDocument/2006/relationships/image" Target="../media/image-14-5.svg"/><Relationship Id="rId6" Type="http://schemas.openxmlformats.org/officeDocument/2006/relationships/image" Target="../media/image-14-2.png"/><Relationship Id="rId7" Type="http://schemas.openxmlformats.org/officeDocument/2006/relationships/image" Target="../media/image-14-3.svg"/><Relationship Id="rId8" Type="http://schemas.openxmlformats.org/officeDocument/2006/relationships/image" Target="../media/image-14-8.png"/><Relationship Id="rId9" Type="http://schemas.openxmlformats.org/officeDocument/2006/relationships/image" Target="../media/image-14-9.svg"/><Relationship Id="rId10" Type="http://schemas.openxmlformats.org/officeDocument/2006/relationships/image" Target="../media/image-14-2.png"/><Relationship Id="rId11" Type="http://schemas.openxmlformats.org/officeDocument/2006/relationships/image" Target="../media/image-14-3.svg"/><Relationship Id="rId12" Type="http://schemas.openxmlformats.org/officeDocument/2006/relationships/image" Target="../media/image-14-12.png"/><Relationship Id="rId13" Type="http://schemas.openxmlformats.org/officeDocument/2006/relationships/image" Target="../media/image-14-13.svg"/><Relationship Id="rId14" Type="http://schemas.openxmlformats.org/officeDocument/2006/relationships/slideLayout" Target="../slideLayouts/slideLayout2.xml"/><Relationship Id="rId1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1.png"/><Relationship Id="rId6" Type="http://schemas.openxmlformats.org/officeDocument/2006/relationships/image" Target="../media/image-15-2.svg"/><Relationship Id="rId7" Type="http://schemas.openxmlformats.org/officeDocument/2006/relationships/image" Target="../media/image-15-7.png"/><Relationship Id="rId8" Type="http://schemas.openxmlformats.org/officeDocument/2006/relationships/image" Target="../media/image-15-8.svg"/><Relationship Id="rId9" Type="http://schemas.openxmlformats.org/officeDocument/2006/relationships/image" Target="../media/image-15-1.png"/><Relationship Id="rId10" Type="http://schemas.openxmlformats.org/officeDocument/2006/relationships/image" Target="../media/image-15-2.svg"/><Relationship Id="rId11" Type="http://schemas.openxmlformats.org/officeDocument/2006/relationships/image" Target="../media/image-15-11.png"/><Relationship Id="rId12" Type="http://schemas.openxmlformats.org/officeDocument/2006/relationships/image" Target="../media/image-15-12.svg"/><Relationship Id="rId13" Type="http://schemas.openxmlformats.org/officeDocument/2006/relationships/slideLayout" Target="../slideLayouts/slideLayout2.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1475" y="1247973"/>
            <a:ext cx="774284" cy="287139"/>
          </a:xfrm>
          <a:prstGeom prst="roundRect">
            <a:avLst>
              <a:gd name="adj" fmla="val 22118"/>
            </a:avLst>
          </a:prstGeom>
          <a:noFill/>
          <a:ln w="6350">
            <a:solidFill>
              <a:srgbClr val="4950BC"/>
            </a:solidFill>
            <a:prstDash val="solid"/>
          </a:ln>
        </p:spPr>
      </p:sp>
      <p:sp>
        <p:nvSpPr>
          <p:cNvPr id="3" name="Text 1"/>
          <p:cNvSpPr/>
          <p:nvPr/>
        </p:nvSpPr>
        <p:spPr>
          <a:xfrm>
            <a:off x="774879" y="1304627"/>
            <a:ext cx="1157060" cy="173831"/>
          </a:xfrm>
          <a:prstGeom prst="rect">
            <a:avLst/>
          </a:prstGeom>
          <a:noFill/>
          <a:ln/>
        </p:spPr>
        <p:txBody>
          <a:bodyPr wrap="none" lIns="0" tIns="0" rIns="0" bIns="0" rtlCol="0" anchor="t"/>
          <a:lstStyle/>
          <a:p>
            <a:pPr algn="l" indent="0" marL="0">
              <a:lnSpc>
                <a:spcPct val="96000"/>
              </a:lnSpc>
              <a:buNone/>
            </a:pPr>
            <a:r>
              <a:rPr lang="en-US" sz="1150" dirty="0">
                <a:solidFill>
                  <a:srgbClr val="4950BC"/>
                </a:solidFill>
                <a:latin typeface="Inter" pitchFamily="34" charset="0"/>
                <a:ea typeface="Inter" pitchFamily="34" charset="-122"/>
                <a:cs typeface="Inter" pitchFamily="34" charset="-120"/>
              </a:rPr>
              <a:t>CS5610</a:t>
            </a:r>
            <a:endParaRPr lang="en-US" sz="1150" dirty="0"/>
          </a:p>
        </p:txBody>
      </p:sp>
      <p:sp>
        <p:nvSpPr>
          <p:cNvPr id="4" name="Text 2"/>
          <p:cNvSpPr/>
          <p:nvPr/>
        </p:nvSpPr>
        <p:spPr>
          <a:xfrm>
            <a:off x="661475" y="1610717"/>
            <a:ext cx="10868745" cy="590649"/>
          </a:xfrm>
          <a:prstGeom prst="rect">
            <a:avLst/>
          </a:prstGeom>
          <a:noFill/>
          <a:ln/>
        </p:spPr>
        <p:txBody>
          <a:bodyPr wrap="none" lIns="0" tIns="0" rIns="0" bIns="0" rtlCol="0" anchor="t"/>
          <a:lstStyle/>
          <a:p>
            <a:pPr algn="ctr" indent="0" marL="0">
              <a:lnSpc>
                <a:spcPct val="104000"/>
              </a:lnSpc>
              <a:buNone/>
            </a:pPr>
            <a:r>
              <a:rPr lang="en-US" sz="3700" b="1" dirty="0">
                <a:solidFill>
                  <a:srgbClr val="000000"/>
                </a:solidFill>
                <a:latin typeface="Inter Bold" pitchFamily="34" charset="0"/>
                <a:ea typeface="Inter Bold" pitchFamily="34" charset="-122"/>
                <a:cs typeface="Inter Bold" pitchFamily="34" charset="-120"/>
              </a:rPr>
              <a:t>CAREER COMPASS</a:t>
            </a:r>
            <a:endParaRPr lang="en-US" sz="3700" dirty="0"/>
          </a:p>
        </p:txBody>
      </p:sp>
      <p:sp>
        <p:nvSpPr>
          <p:cNvPr id="5" name="Text 3"/>
          <p:cNvSpPr/>
          <p:nvPr/>
        </p:nvSpPr>
        <p:spPr>
          <a:xfrm>
            <a:off x="661475" y="2276971"/>
            <a:ext cx="10868745" cy="354409"/>
          </a:xfrm>
          <a:prstGeom prst="rect">
            <a:avLst/>
          </a:prstGeom>
          <a:noFill/>
          <a:ln/>
        </p:spPr>
        <p:txBody>
          <a:bodyPr wrap="none" lIns="0" tIns="0" rIns="0" bIns="0" rtlCol="0" anchor="t"/>
          <a:lstStyle/>
          <a:p>
            <a:pPr algn="ctr" indent="0" marL="0">
              <a:lnSpc>
                <a:spcPct val="104000"/>
              </a:lnSpc>
              <a:buNone/>
            </a:pPr>
            <a:r>
              <a:rPr lang="en-US" sz="2200" b="1" dirty="0">
                <a:solidFill>
                  <a:srgbClr val="000000"/>
                </a:solidFill>
                <a:latin typeface="Inter Bold" pitchFamily="34" charset="0"/>
                <a:ea typeface="Inter Bold" pitchFamily="34" charset="-122"/>
                <a:cs typeface="Inter Bold" pitchFamily="34" charset="-120"/>
              </a:rPr>
              <a:t>Using Supervised Machine Learning</a:t>
            </a:r>
            <a:endParaRPr lang="en-US" sz="2200" dirty="0"/>
          </a:p>
        </p:txBody>
      </p:sp>
      <p:sp>
        <p:nvSpPr>
          <p:cNvPr id="6" name="Text 4"/>
          <p:cNvSpPr/>
          <p:nvPr/>
        </p:nvSpPr>
        <p:spPr>
          <a:xfrm>
            <a:off x="356682" y="2914848"/>
            <a:ext cx="11478330" cy="302419"/>
          </a:xfrm>
          <a:prstGeom prst="rect">
            <a:avLst/>
          </a:prstGeom>
          <a:noFill/>
          <a:ln/>
        </p:spPr>
        <p:txBody>
          <a:bodyPr wrap="none" lIns="0" tIns="0" rIns="0" bIns="0" rtlCol="0" anchor="t"/>
          <a:lstStyle/>
          <a:p>
            <a:pPr algn="ctr" indent="0" marL="0">
              <a:lnSpc>
                <a:spcPct val="133000"/>
              </a:lnSpc>
              <a:buNone/>
            </a:pPr>
            <a:r>
              <a:rPr lang="en-US" sz="1450" b="1" dirty="0">
                <a:solidFill>
                  <a:srgbClr val="272525"/>
                </a:solidFill>
                <a:latin typeface="Inter Bold" pitchFamily="34" charset="0"/>
                <a:ea typeface="Inter Bold" pitchFamily="34" charset="-122"/>
                <a:cs typeface="Inter Bold" pitchFamily="34" charset="-120"/>
              </a:rPr>
              <a:t>Advanced R for Data Science</a:t>
            </a:r>
            <a:endParaRPr lang="en-US" sz="1450" dirty="0"/>
          </a:p>
        </p:txBody>
      </p:sp>
      <p:sp>
        <p:nvSpPr>
          <p:cNvPr id="7" name="Shape 5"/>
          <p:cNvSpPr/>
          <p:nvPr/>
        </p:nvSpPr>
        <p:spPr>
          <a:xfrm>
            <a:off x="661475" y="3477121"/>
            <a:ext cx="10868745" cy="25400"/>
          </a:xfrm>
          <a:prstGeom prst="roundRect">
            <a:avLst>
              <a:gd name="adj" fmla="val 59999"/>
            </a:avLst>
          </a:prstGeom>
          <a:solidFill>
            <a:srgbClr val="272525">
              <a:alpha val="50000"/>
            </a:srgbClr>
          </a:solidFill>
          <a:ln/>
        </p:spPr>
      </p:sp>
      <p:sp>
        <p:nvSpPr>
          <p:cNvPr id="8" name="Text 6"/>
          <p:cNvSpPr/>
          <p:nvPr/>
        </p:nvSpPr>
        <p:spPr>
          <a:xfrm>
            <a:off x="661475" y="3762375"/>
            <a:ext cx="10868745" cy="1847552"/>
          </a:xfrm>
          <a:prstGeom prst="rect">
            <a:avLst/>
          </a:prstGeom>
          <a:noFill/>
          <a:ln/>
        </p:spPr>
        <p:txBody>
          <a:bodyPr wrap="square" lIns="0" tIns="0" rIns="0" bIns="0" rtlCol="0" anchor="t"/>
          <a:lstStyle/>
          <a:p>
            <a:pPr algn="ctr" indent="0" marL="0">
              <a:lnSpc>
                <a:spcPct val="133000"/>
              </a:lnSpc>
              <a:spcAft>
                <a:spcPts val="1650"/>
              </a:spcAft>
              <a:buNone/>
            </a:pPr>
            <a:r>
              <a:rPr lang="en-US" sz="1450" b="1" dirty="0">
                <a:solidFill>
                  <a:srgbClr val="272525"/>
                </a:solidFill>
                <a:latin typeface="Inter Bold" pitchFamily="34" charset="0"/>
                <a:ea typeface="Inter Bold" pitchFamily="34" charset="-122"/>
                <a:cs typeface="Inter Bold" pitchFamily="34" charset="-120"/>
              </a:rPr>
              <a:t>Team Members</a:t>
            </a:r>
            <a:endParaRPr lang="en-US" sz="1450" dirty="0"/>
          </a:p>
          <a:p>
            <a:pPr algn="ctr" indent="0" marL="0">
              <a:lnSpc>
                <a:spcPct val="133000"/>
              </a:lnSpc>
              <a:spcAft>
                <a:spcPts val="1650"/>
              </a:spcAft>
              <a:buNone/>
            </a:pPr>
            <a:r>
              <a:rPr lang="en-US" sz="1450" dirty="0">
                <a:solidFill>
                  <a:srgbClr val="272525"/>
                </a:solidFill>
                <a:latin typeface="Inter" pitchFamily="34" charset="0"/>
                <a:ea typeface="Inter" pitchFamily="34" charset="-122"/>
                <a:cs typeface="Inter" pitchFamily="34" charset="-120"/>
              </a:rPr>
              <a:t>Lahari Potharaju</a:t>
            </a:r>
            <a:endParaRPr lang="en-US" sz="1450" dirty="0"/>
          </a:p>
          <a:p>
            <a:pPr algn="ctr" indent="0" marL="0">
              <a:lnSpc>
                <a:spcPct val="133000"/>
              </a:lnSpc>
              <a:spcAft>
                <a:spcPts val="1650"/>
              </a:spcAft>
              <a:buNone/>
            </a:pPr>
            <a:r>
              <a:rPr lang="en-US" sz="1450" dirty="0">
                <a:solidFill>
                  <a:srgbClr val="272525"/>
                </a:solidFill>
                <a:latin typeface="Inter" pitchFamily="34" charset="0"/>
                <a:ea typeface="Inter" pitchFamily="34" charset="-122"/>
                <a:cs typeface="Inter" pitchFamily="34" charset="-120"/>
              </a:rPr>
              <a:t>Tanuja Neelapu</a:t>
            </a:r>
            <a:endParaRPr lang="en-US" sz="1450" dirty="0"/>
          </a:p>
          <a:p>
            <a:pPr algn="ctr" indent="0" marL="0">
              <a:lnSpc>
                <a:spcPct val="133000"/>
              </a:lnSpc>
              <a:buNone/>
            </a:pPr>
            <a:r>
              <a:rPr lang="en-US" sz="1450" dirty="0">
                <a:solidFill>
                  <a:srgbClr val="272525"/>
                </a:solidFill>
                <a:latin typeface="Inter" pitchFamily="34" charset="0"/>
                <a:ea typeface="Inter" pitchFamily="34" charset="-122"/>
                <a:cs typeface="Inter" pitchFamily="34" charset="-120"/>
              </a:rPr>
              <a:t>Nikhil Sairam Adari</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522883"/>
            <a:ext cx="800477" cy="260152"/>
          </a:xfrm>
          <a:prstGeom prst="roundRect">
            <a:avLst>
              <a:gd name="adj" fmla="val 22124"/>
            </a:avLst>
          </a:prstGeom>
          <a:noFill/>
          <a:ln w="6350">
            <a:solidFill>
              <a:srgbClr val="4950BC"/>
            </a:solidFill>
            <a:prstDash val="solid"/>
          </a:ln>
        </p:spPr>
      </p:sp>
      <p:sp>
        <p:nvSpPr>
          <p:cNvPr id="3" name="Text 1"/>
          <p:cNvSpPr/>
          <p:nvPr/>
        </p:nvSpPr>
        <p:spPr>
          <a:xfrm>
            <a:off x="764164" y="574179"/>
            <a:ext cx="1204684" cy="157559"/>
          </a:xfrm>
          <a:prstGeom prst="rect">
            <a:avLst/>
          </a:prstGeom>
          <a:noFill/>
          <a:ln/>
        </p:spPr>
        <p:txBody>
          <a:bodyPr wrap="none" lIns="0" tIns="0" rIns="0" bIns="0" rtlCol="0" anchor="t"/>
          <a:lstStyle/>
          <a:p>
            <a:pPr algn="l" indent="0" marL="0">
              <a:lnSpc>
                <a:spcPct val="96000"/>
              </a:lnSpc>
              <a:buNone/>
            </a:pPr>
            <a:r>
              <a:rPr lang="en-US" sz="1050" dirty="0">
                <a:solidFill>
                  <a:srgbClr val="4950BC"/>
                </a:solidFill>
                <a:latin typeface="Inter" pitchFamily="34" charset="0"/>
                <a:ea typeface="Inter" pitchFamily="34" charset="-122"/>
                <a:cs typeface="Inter" pitchFamily="34" charset="-120"/>
              </a:rPr>
              <a:t>OUTLINE</a:t>
            </a:r>
            <a:endParaRPr lang="en-US" sz="1050" dirty="0"/>
          </a:p>
        </p:txBody>
      </p:sp>
      <p:sp>
        <p:nvSpPr>
          <p:cNvPr id="4" name="Text 2"/>
          <p:cNvSpPr/>
          <p:nvPr/>
        </p:nvSpPr>
        <p:spPr>
          <a:xfrm>
            <a:off x="661475" y="845046"/>
            <a:ext cx="10868745" cy="535285"/>
          </a:xfrm>
          <a:prstGeom prst="rect">
            <a:avLst/>
          </a:prstGeom>
          <a:noFill/>
          <a:ln/>
        </p:spPr>
        <p:txBody>
          <a:bodyPr wrap="none" lIns="0" tIns="0" rIns="0" bIns="0" rtlCol="0" anchor="t"/>
          <a:lstStyle/>
          <a:p>
            <a:pPr algn="ctr" indent="0" marL="0">
              <a:lnSpc>
                <a:spcPct val="104000"/>
              </a:lnSpc>
              <a:buNone/>
            </a:pPr>
            <a:r>
              <a:rPr lang="en-US" sz="3350" b="1" dirty="0">
                <a:solidFill>
                  <a:srgbClr val="000000"/>
                </a:solidFill>
                <a:latin typeface="Inter Bold" pitchFamily="34" charset="0"/>
                <a:ea typeface="Inter Bold" pitchFamily="34" charset="-122"/>
                <a:cs typeface="Inter Bold" pitchFamily="34" charset="-120"/>
              </a:rPr>
              <a:t>PRESENTATION OUTLINE</a:t>
            </a:r>
            <a:endParaRPr lang="en-US" sz="3350" dirty="0"/>
          </a:p>
        </p:txBody>
      </p:sp>
      <p:sp>
        <p:nvSpPr>
          <p:cNvPr id="5" name="Text 3"/>
          <p:cNvSpPr/>
          <p:nvPr/>
        </p:nvSpPr>
        <p:spPr>
          <a:xfrm>
            <a:off x="356682" y="1613098"/>
            <a:ext cx="11478330" cy="261243"/>
          </a:xfrm>
          <a:prstGeom prst="rect">
            <a:avLst/>
          </a:prstGeom>
          <a:noFill/>
          <a:ln/>
        </p:spPr>
        <p:txBody>
          <a:bodyPr wrap="none" lIns="0" tIns="0" rIns="0" bIns="0" rtlCol="0" anchor="t"/>
          <a:lstStyle/>
          <a:p>
            <a:pPr algn="ctr" indent="0" marL="0">
              <a:lnSpc>
                <a:spcPct val="127000"/>
              </a:lnSpc>
              <a:buNone/>
            </a:pPr>
            <a:r>
              <a:rPr lang="en-US" sz="1300" dirty="0">
                <a:solidFill>
                  <a:srgbClr val="272525"/>
                </a:solidFill>
                <a:latin typeface="Inter" pitchFamily="34" charset="0"/>
                <a:ea typeface="Inter" pitchFamily="34" charset="-122"/>
                <a:cs typeface="Inter" pitchFamily="34" charset="-120"/>
              </a:rPr>
              <a:t>A quick roadmap of the project from problem setup to final results and demo.</a:t>
            </a:r>
            <a:endParaRPr lang="en-US" sz="1300" dirty="0"/>
          </a:p>
        </p:txBody>
      </p:sp>
      <p:sp>
        <p:nvSpPr>
          <p:cNvPr id="6" name="Shape 4"/>
          <p:cNvSpPr/>
          <p:nvPr/>
        </p:nvSpPr>
        <p:spPr>
          <a:xfrm>
            <a:off x="661475" y="2091730"/>
            <a:ext cx="10868745" cy="19050"/>
          </a:xfrm>
          <a:prstGeom prst="roundRect">
            <a:avLst>
              <a:gd name="adj" fmla="val 59999"/>
            </a:avLst>
          </a:prstGeom>
          <a:solidFill>
            <a:srgbClr val="272525">
              <a:alpha val="50000"/>
            </a:srgbClr>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328168"/>
            <a:ext cx="2600756" cy="1143000"/>
          </a:xfrm>
          <a:prstGeom prst="rect">
            <a:avLst/>
          </a:prstGeom>
        </p:spPr>
      </p:pic>
      <p:sp>
        <p:nvSpPr>
          <p:cNvPr id="8" name="Text 5"/>
          <p:cNvSpPr/>
          <p:nvPr/>
        </p:nvSpPr>
        <p:spPr>
          <a:xfrm>
            <a:off x="1859065" y="2456656"/>
            <a:ext cx="205477" cy="256877"/>
          </a:xfrm>
          <a:prstGeom prst="rect">
            <a:avLst/>
          </a:prstGeom>
          <a:noFill/>
          <a:ln/>
        </p:spPr>
        <p:txBody>
          <a:bodyPr wrap="none" lIns="0" tIns="0" rIns="0" bIns="0" rtlCol="0" anchor="ctr"/>
          <a:lstStyle/>
          <a:p>
            <a:pPr algn="ctr" indent="0" marL="0">
              <a:lnSpc>
                <a:spcPct val="100000"/>
              </a:lnSpc>
              <a:buNone/>
            </a:pPr>
            <a:r>
              <a:rPr lang="en-US" sz="1600" b="1" dirty="0">
                <a:solidFill>
                  <a:srgbClr val="FFFFFF"/>
                </a:solidFill>
                <a:latin typeface="Inter Bold" pitchFamily="34" charset="0"/>
                <a:ea typeface="Inter Bold" pitchFamily="34" charset="-122"/>
                <a:cs typeface="Inter Bold" pitchFamily="34" charset="-120"/>
              </a:rPr>
              <a:t>1</a:t>
            </a:r>
            <a:endParaRPr lang="en-US" sz="1600" dirty="0"/>
          </a:p>
        </p:txBody>
      </p:sp>
      <p:sp>
        <p:nvSpPr>
          <p:cNvPr id="9" name="Text 6"/>
          <p:cNvSpPr/>
          <p:nvPr/>
        </p:nvSpPr>
        <p:spPr>
          <a:xfrm>
            <a:off x="851772" y="3013273"/>
            <a:ext cx="2220162" cy="267593"/>
          </a:xfrm>
          <a:prstGeom prst="rect">
            <a:avLst/>
          </a:prstGeom>
          <a:noFill/>
          <a:ln/>
        </p:spPr>
        <p:txBody>
          <a:bodyPr wrap="none" lIns="0" tIns="0" rIns="0" bIns="0" rtlCol="0" anchor="t"/>
          <a:lstStyle/>
          <a:p>
            <a:pPr algn="l" indent="0" marL="0">
              <a:lnSpc>
                <a:spcPct val="104000"/>
              </a:lnSpc>
              <a:buNone/>
            </a:pPr>
            <a:r>
              <a:rPr lang="en-US" sz="1650" b="1" dirty="0">
                <a:solidFill>
                  <a:srgbClr val="272525"/>
                </a:solidFill>
                <a:latin typeface="Inter Bold" pitchFamily="34" charset="0"/>
                <a:ea typeface="Inter Bold" pitchFamily="34" charset="-122"/>
                <a:cs typeface="Inter Bold" pitchFamily="34" charset="-120"/>
              </a:rPr>
              <a:t>Introduction</a:t>
            </a:r>
            <a:endParaRPr lang="en-US" sz="16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17405" y="2328168"/>
            <a:ext cx="2600855" cy="1143000"/>
          </a:xfrm>
          <a:prstGeom prst="rect">
            <a:avLst/>
          </a:prstGeom>
        </p:spPr>
      </p:pic>
      <p:sp>
        <p:nvSpPr>
          <p:cNvPr id="11" name="Text 7"/>
          <p:cNvSpPr/>
          <p:nvPr/>
        </p:nvSpPr>
        <p:spPr>
          <a:xfrm>
            <a:off x="4615094" y="2456656"/>
            <a:ext cx="205477" cy="256877"/>
          </a:xfrm>
          <a:prstGeom prst="rect">
            <a:avLst/>
          </a:prstGeom>
          <a:noFill/>
          <a:ln/>
        </p:spPr>
        <p:txBody>
          <a:bodyPr wrap="none" lIns="0" tIns="0" rIns="0" bIns="0" rtlCol="0" anchor="ctr"/>
          <a:lstStyle/>
          <a:p>
            <a:pPr algn="ctr" indent="0" marL="0">
              <a:lnSpc>
                <a:spcPct val="100000"/>
              </a:lnSpc>
              <a:buNone/>
            </a:pPr>
            <a:r>
              <a:rPr lang="en-US" sz="1600" b="1" dirty="0">
                <a:solidFill>
                  <a:srgbClr val="FFFFFF"/>
                </a:solidFill>
                <a:latin typeface="Inter Bold" pitchFamily="34" charset="0"/>
                <a:ea typeface="Inter Bold" pitchFamily="34" charset="-122"/>
                <a:cs typeface="Inter Bold" pitchFamily="34" charset="-120"/>
              </a:rPr>
              <a:t>2</a:t>
            </a:r>
            <a:endParaRPr lang="en-US" sz="1600" dirty="0"/>
          </a:p>
        </p:txBody>
      </p:sp>
      <p:sp>
        <p:nvSpPr>
          <p:cNvPr id="12" name="Text 8"/>
          <p:cNvSpPr/>
          <p:nvPr/>
        </p:nvSpPr>
        <p:spPr>
          <a:xfrm>
            <a:off x="3607702" y="3013273"/>
            <a:ext cx="2220262" cy="267593"/>
          </a:xfrm>
          <a:prstGeom prst="rect">
            <a:avLst/>
          </a:prstGeom>
          <a:noFill/>
          <a:ln/>
        </p:spPr>
        <p:txBody>
          <a:bodyPr wrap="none" lIns="0" tIns="0" rIns="0" bIns="0" rtlCol="0" anchor="t"/>
          <a:lstStyle/>
          <a:p>
            <a:pPr algn="l" indent="0" marL="0">
              <a:lnSpc>
                <a:spcPct val="104000"/>
              </a:lnSpc>
              <a:buNone/>
            </a:pPr>
            <a:r>
              <a:rPr lang="en-US" sz="1650" b="1" dirty="0">
                <a:solidFill>
                  <a:srgbClr val="272525"/>
                </a:solidFill>
                <a:latin typeface="Inter Bold" pitchFamily="34" charset="0"/>
                <a:ea typeface="Inter Bold" pitchFamily="34" charset="-122"/>
                <a:cs typeface="Inter Bold" pitchFamily="34" charset="-120"/>
              </a:rPr>
              <a:t>Objectives</a:t>
            </a:r>
            <a:endParaRPr lang="en-US" sz="165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73435" y="2328168"/>
            <a:ext cx="2600756" cy="1143000"/>
          </a:xfrm>
          <a:prstGeom prst="rect">
            <a:avLst/>
          </a:prstGeom>
        </p:spPr>
      </p:pic>
      <p:sp>
        <p:nvSpPr>
          <p:cNvPr id="14" name="Text 9"/>
          <p:cNvSpPr/>
          <p:nvPr/>
        </p:nvSpPr>
        <p:spPr>
          <a:xfrm>
            <a:off x="7371025" y="2456656"/>
            <a:ext cx="205477" cy="256877"/>
          </a:xfrm>
          <a:prstGeom prst="rect">
            <a:avLst/>
          </a:prstGeom>
          <a:noFill/>
          <a:ln/>
        </p:spPr>
        <p:txBody>
          <a:bodyPr wrap="none" lIns="0" tIns="0" rIns="0" bIns="0" rtlCol="0" anchor="ctr"/>
          <a:lstStyle/>
          <a:p>
            <a:pPr algn="ctr" indent="0" marL="0">
              <a:lnSpc>
                <a:spcPct val="100000"/>
              </a:lnSpc>
              <a:buNone/>
            </a:pPr>
            <a:r>
              <a:rPr lang="en-US" sz="1600" b="1" dirty="0">
                <a:solidFill>
                  <a:srgbClr val="FFFFFF"/>
                </a:solidFill>
                <a:latin typeface="Inter Bold" pitchFamily="34" charset="0"/>
                <a:ea typeface="Inter Bold" pitchFamily="34" charset="-122"/>
                <a:cs typeface="Inter Bold" pitchFamily="34" charset="-120"/>
              </a:rPr>
              <a:t>3</a:t>
            </a:r>
            <a:endParaRPr lang="en-US" sz="1600" dirty="0"/>
          </a:p>
        </p:txBody>
      </p:sp>
      <p:sp>
        <p:nvSpPr>
          <p:cNvPr id="15" name="Text 10"/>
          <p:cNvSpPr/>
          <p:nvPr/>
        </p:nvSpPr>
        <p:spPr>
          <a:xfrm>
            <a:off x="6363731" y="3013273"/>
            <a:ext cx="2220162" cy="267593"/>
          </a:xfrm>
          <a:prstGeom prst="rect">
            <a:avLst/>
          </a:prstGeom>
          <a:noFill/>
          <a:ln/>
        </p:spPr>
        <p:txBody>
          <a:bodyPr wrap="none" lIns="0" tIns="0" rIns="0" bIns="0" rtlCol="0" anchor="t"/>
          <a:lstStyle/>
          <a:p>
            <a:pPr algn="l" indent="0" marL="0">
              <a:lnSpc>
                <a:spcPct val="104000"/>
              </a:lnSpc>
              <a:buNone/>
            </a:pPr>
            <a:r>
              <a:rPr lang="en-US" sz="1650" b="1" dirty="0">
                <a:solidFill>
                  <a:srgbClr val="272525"/>
                </a:solidFill>
                <a:latin typeface="Inter Bold" pitchFamily="34" charset="0"/>
                <a:ea typeface="Inter Bold" pitchFamily="34" charset="-122"/>
                <a:cs typeface="Inter Bold" pitchFamily="34" charset="-120"/>
              </a:rPr>
              <a:t>Tools &amp; Libraries</a:t>
            </a:r>
            <a:endParaRPr lang="en-US" sz="165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29365" y="2328168"/>
            <a:ext cx="2600855" cy="1143000"/>
          </a:xfrm>
          <a:prstGeom prst="rect">
            <a:avLst/>
          </a:prstGeom>
        </p:spPr>
      </p:pic>
      <p:sp>
        <p:nvSpPr>
          <p:cNvPr id="17" name="Text 11"/>
          <p:cNvSpPr/>
          <p:nvPr/>
        </p:nvSpPr>
        <p:spPr>
          <a:xfrm>
            <a:off x="10127054" y="2456656"/>
            <a:ext cx="205477" cy="256877"/>
          </a:xfrm>
          <a:prstGeom prst="rect">
            <a:avLst/>
          </a:prstGeom>
          <a:noFill/>
          <a:ln/>
        </p:spPr>
        <p:txBody>
          <a:bodyPr wrap="none" lIns="0" tIns="0" rIns="0" bIns="0" rtlCol="0" anchor="ctr"/>
          <a:lstStyle/>
          <a:p>
            <a:pPr algn="ctr" indent="0" marL="0">
              <a:lnSpc>
                <a:spcPct val="100000"/>
              </a:lnSpc>
              <a:buNone/>
            </a:pPr>
            <a:r>
              <a:rPr lang="en-US" sz="1600" b="1" dirty="0">
                <a:solidFill>
                  <a:srgbClr val="FFFFFF"/>
                </a:solidFill>
                <a:latin typeface="Inter Bold" pitchFamily="34" charset="0"/>
                <a:ea typeface="Inter Bold" pitchFamily="34" charset="-122"/>
                <a:cs typeface="Inter Bold" pitchFamily="34" charset="-120"/>
              </a:rPr>
              <a:t>4</a:t>
            </a:r>
            <a:endParaRPr lang="en-US" sz="1600" dirty="0"/>
          </a:p>
        </p:txBody>
      </p:sp>
      <p:sp>
        <p:nvSpPr>
          <p:cNvPr id="18" name="Text 12"/>
          <p:cNvSpPr/>
          <p:nvPr/>
        </p:nvSpPr>
        <p:spPr>
          <a:xfrm>
            <a:off x="9119662" y="3013273"/>
            <a:ext cx="2220262" cy="267593"/>
          </a:xfrm>
          <a:prstGeom prst="rect">
            <a:avLst/>
          </a:prstGeom>
          <a:noFill/>
          <a:ln/>
        </p:spPr>
        <p:txBody>
          <a:bodyPr wrap="none" lIns="0" tIns="0" rIns="0" bIns="0" rtlCol="0" anchor="t"/>
          <a:lstStyle/>
          <a:p>
            <a:pPr algn="l" indent="0" marL="0">
              <a:lnSpc>
                <a:spcPct val="104000"/>
              </a:lnSpc>
              <a:buNone/>
            </a:pPr>
            <a:r>
              <a:rPr lang="en-US" sz="1650" b="1" dirty="0">
                <a:solidFill>
                  <a:srgbClr val="272525"/>
                </a:solidFill>
                <a:latin typeface="Inter Bold" pitchFamily="34" charset="0"/>
                <a:ea typeface="Inter Bold" pitchFamily="34" charset="-122"/>
                <a:cs typeface="Inter Bold" pitchFamily="34" charset="-120"/>
              </a:rPr>
              <a:t>Data Description</a:t>
            </a:r>
            <a:endParaRPr lang="en-US" sz="165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3626346"/>
            <a:ext cx="2600756" cy="1410593"/>
          </a:xfrm>
          <a:prstGeom prst="rect">
            <a:avLst/>
          </a:prstGeom>
        </p:spPr>
      </p:pic>
      <p:sp>
        <p:nvSpPr>
          <p:cNvPr id="20" name="Text 13"/>
          <p:cNvSpPr/>
          <p:nvPr/>
        </p:nvSpPr>
        <p:spPr>
          <a:xfrm>
            <a:off x="1859065" y="3754834"/>
            <a:ext cx="205477" cy="256877"/>
          </a:xfrm>
          <a:prstGeom prst="rect">
            <a:avLst/>
          </a:prstGeom>
          <a:noFill/>
          <a:ln/>
        </p:spPr>
        <p:txBody>
          <a:bodyPr wrap="none" lIns="0" tIns="0" rIns="0" bIns="0" rtlCol="0" anchor="ctr"/>
          <a:lstStyle/>
          <a:p>
            <a:pPr algn="ctr" indent="0" marL="0">
              <a:lnSpc>
                <a:spcPct val="100000"/>
              </a:lnSpc>
              <a:buNone/>
            </a:pPr>
            <a:r>
              <a:rPr lang="en-US" sz="1600" b="1" dirty="0">
                <a:solidFill>
                  <a:srgbClr val="FFFFFF"/>
                </a:solidFill>
                <a:latin typeface="Inter Bold" pitchFamily="34" charset="0"/>
                <a:ea typeface="Inter Bold" pitchFamily="34" charset="-122"/>
                <a:cs typeface="Inter Bold" pitchFamily="34" charset="-120"/>
              </a:rPr>
              <a:t>5</a:t>
            </a:r>
            <a:endParaRPr lang="en-US" sz="1600" dirty="0"/>
          </a:p>
        </p:txBody>
      </p:sp>
      <p:sp>
        <p:nvSpPr>
          <p:cNvPr id="21" name="Text 14"/>
          <p:cNvSpPr/>
          <p:nvPr/>
        </p:nvSpPr>
        <p:spPr>
          <a:xfrm>
            <a:off x="851772" y="4311452"/>
            <a:ext cx="2220162" cy="267593"/>
          </a:xfrm>
          <a:prstGeom prst="rect">
            <a:avLst/>
          </a:prstGeom>
          <a:noFill/>
          <a:ln/>
        </p:spPr>
        <p:txBody>
          <a:bodyPr wrap="none" lIns="0" tIns="0" rIns="0" bIns="0" rtlCol="0" anchor="t"/>
          <a:lstStyle/>
          <a:p>
            <a:pPr algn="l" indent="0" marL="0">
              <a:lnSpc>
                <a:spcPct val="104000"/>
              </a:lnSpc>
              <a:buNone/>
            </a:pPr>
            <a:r>
              <a:rPr lang="en-US" sz="1650" b="1" dirty="0">
                <a:solidFill>
                  <a:srgbClr val="272525"/>
                </a:solidFill>
                <a:latin typeface="Inter Bold" pitchFamily="34" charset="0"/>
                <a:ea typeface="Inter Bold" pitchFamily="34" charset="-122"/>
                <a:cs typeface="Inter Bold" pitchFamily="34" charset="-120"/>
              </a:rPr>
              <a:t>Design &amp; Methods</a:t>
            </a:r>
            <a:endParaRPr lang="en-US" sz="1650" dirty="0"/>
          </a:p>
        </p:txBody>
      </p:sp>
      <p:pic>
        <p:nvPicPr>
          <p:cNvPr id="2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17405" y="3626346"/>
            <a:ext cx="2600855" cy="1410593"/>
          </a:xfrm>
          <a:prstGeom prst="rect">
            <a:avLst/>
          </a:prstGeom>
        </p:spPr>
      </p:pic>
      <p:sp>
        <p:nvSpPr>
          <p:cNvPr id="23" name="Text 15"/>
          <p:cNvSpPr/>
          <p:nvPr/>
        </p:nvSpPr>
        <p:spPr>
          <a:xfrm>
            <a:off x="4615094" y="3754834"/>
            <a:ext cx="205477" cy="256877"/>
          </a:xfrm>
          <a:prstGeom prst="rect">
            <a:avLst/>
          </a:prstGeom>
          <a:noFill/>
          <a:ln/>
        </p:spPr>
        <p:txBody>
          <a:bodyPr wrap="none" lIns="0" tIns="0" rIns="0" bIns="0" rtlCol="0" anchor="ctr"/>
          <a:lstStyle/>
          <a:p>
            <a:pPr algn="ctr" indent="0" marL="0">
              <a:lnSpc>
                <a:spcPct val="100000"/>
              </a:lnSpc>
              <a:buNone/>
            </a:pPr>
            <a:r>
              <a:rPr lang="en-US" sz="1600" b="1" dirty="0">
                <a:solidFill>
                  <a:srgbClr val="FFFFFF"/>
                </a:solidFill>
                <a:latin typeface="Inter Bold" pitchFamily="34" charset="0"/>
                <a:ea typeface="Inter Bold" pitchFamily="34" charset="-122"/>
                <a:cs typeface="Inter Bold" pitchFamily="34" charset="-120"/>
              </a:rPr>
              <a:t>6</a:t>
            </a:r>
            <a:endParaRPr lang="en-US" sz="1600" dirty="0"/>
          </a:p>
        </p:txBody>
      </p:sp>
      <p:sp>
        <p:nvSpPr>
          <p:cNvPr id="24" name="Text 16"/>
          <p:cNvSpPr/>
          <p:nvPr/>
        </p:nvSpPr>
        <p:spPr>
          <a:xfrm>
            <a:off x="3607702" y="4311452"/>
            <a:ext cx="2220262" cy="535186"/>
          </a:xfrm>
          <a:prstGeom prst="rect">
            <a:avLst/>
          </a:prstGeom>
          <a:noFill/>
          <a:ln/>
        </p:spPr>
        <p:txBody>
          <a:bodyPr wrap="square" lIns="0" tIns="0" rIns="0" bIns="0" rtlCol="0" anchor="t">
            <a:normAutofit/>
          </a:bodyPr>
          <a:lstStyle/>
          <a:p>
            <a:pPr algn="l" indent="0" marL="0">
              <a:lnSpc>
                <a:spcPct val="104000"/>
              </a:lnSpc>
              <a:buNone/>
            </a:pPr>
            <a:r>
              <a:rPr lang="en-US" sz="1650" b="1" dirty="0">
                <a:solidFill>
                  <a:srgbClr val="272525"/>
                </a:solidFill>
                <a:latin typeface="Inter Bold" pitchFamily="34" charset="0"/>
                <a:ea typeface="Inter Bold" pitchFamily="34" charset="-122"/>
                <a:cs typeface="Inter Bold" pitchFamily="34" charset="-120"/>
              </a:rPr>
              <a:t>Machine Learning Models</a:t>
            </a:r>
            <a:endParaRPr lang="en-US" sz="1650" dirty="0"/>
          </a:p>
        </p:txBody>
      </p:sp>
      <p:pic>
        <p:nvPicPr>
          <p:cNvPr id="25"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173435" y="3626346"/>
            <a:ext cx="2600756" cy="1410593"/>
          </a:xfrm>
          <a:prstGeom prst="rect">
            <a:avLst/>
          </a:prstGeom>
        </p:spPr>
      </p:pic>
      <p:sp>
        <p:nvSpPr>
          <p:cNvPr id="26" name="Text 17"/>
          <p:cNvSpPr/>
          <p:nvPr/>
        </p:nvSpPr>
        <p:spPr>
          <a:xfrm>
            <a:off x="7371025" y="3754834"/>
            <a:ext cx="205477" cy="256877"/>
          </a:xfrm>
          <a:prstGeom prst="rect">
            <a:avLst/>
          </a:prstGeom>
          <a:noFill/>
          <a:ln/>
        </p:spPr>
        <p:txBody>
          <a:bodyPr wrap="none" lIns="0" tIns="0" rIns="0" bIns="0" rtlCol="0" anchor="ctr"/>
          <a:lstStyle/>
          <a:p>
            <a:pPr algn="ctr" indent="0" marL="0">
              <a:lnSpc>
                <a:spcPct val="100000"/>
              </a:lnSpc>
              <a:buNone/>
            </a:pPr>
            <a:r>
              <a:rPr lang="en-US" sz="1600" b="1" dirty="0">
                <a:solidFill>
                  <a:srgbClr val="FFFFFF"/>
                </a:solidFill>
                <a:latin typeface="Inter Bold" pitchFamily="34" charset="0"/>
                <a:ea typeface="Inter Bold" pitchFamily="34" charset="-122"/>
                <a:cs typeface="Inter Bold" pitchFamily="34" charset="-120"/>
              </a:rPr>
              <a:t>7</a:t>
            </a:r>
            <a:endParaRPr lang="en-US" sz="1600" dirty="0"/>
          </a:p>
        </p:txBody>
      </p:sp>
      <p:sp>
        <p:nvSpPr>
          <p:cNvPr id="27" name="Text 18"/>
          <p:cNvSpPr/>
          <p:nvPr/>
        </p:nvSpPr>
        <p:spPr>
          <a:xfrm>
            <a:off x="6363731" y="4311452"/>
            <a:ext cx="2220162" cy="267593"/>
          </a:xfrm>
          <a:prstGeom prst="rect">
            <a:avLst/>
          </a:prstGeom>
          <a:noFill/>
          <a:ln/>
        </p:spPr>
        <p:txBody>
          <a:bodyPr wrap="none" lIns="0" tIns="0" rIns="0" bIns="0" rtlCol="0" anchor="t"/>
          <a:lstStyle/>
          <a:p>
            <a:pPr algn="l" indent="0" marL="0">
              <a:lnSpc>
                <a:spcPct val="104000"/>
              </a:lnSpc>
              <a:buNone/>
            </a:pPr>
            <a:r>
              <a:rPr lang="en-US" sz="1650" b="1" dirty="0">
                <a:solidFill>
                  <a:srgbClr val="272525"/>
                </a:solidFill>
                <a:latin typeface="Inter Bold" pitchFamily="34" charset="0"/>
                <a:ea typeface="Inter Bold" pitchFamily="34" charset="-122"/>
                <a:cs typeface="Inter Bold" pitchFamily="34" charset="-120"/>
              </a:rPr>
              <a:t>Shiny App Structure</a:t>
            </a:r>
            <a:endParaRPr lang="en-US" sz="1650" dirty="0"/>
          </a:p>
        </p:txBody>
      </p:sp>
      <p:pic>
        <p:nvPicPr>
          <p:cNvPr id="28"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929365" y="3626346"/>
            <a:ext cx="2600855" cy="1410593"/>
          </a:xfrm>
          <a:prstGeom prst="rect">
            <a:avLst/>
          </a:prstGeom>
        </p:spPr>
      </p:pic>
      <p:sp>
        <p:nvSpPr>
          <p:cNvPr id="29" name="Text 19"/>
          <p:cNvSpPr/>
          <p:nvPr/>
        </p:nvSpPr>
        <p:spPr>
          <a:xfrm>
            <a:off x="10127054" y="3754834"/>
            <a:ext cx="205477" cy="256877"/>
          </a:xfrm>
          <a:prstGeom prst="rect">
            <a:avLst/>
          </a:prstGeom>
          <a:noFill/>
          <a:ln/>
        </p:spPr>
        <p:txBody>
          <a:bodyPr wrap="none" lIns="0" tIns="0" rIns="0" bIns="0" rtlCol="0" anchor="ctr"/>
          <a:lstStyle/>
          <a:p>
            <a:pPr algn="ctr" indent="0" marL="0">
              <a:lnSpc>
                <a:spcPct val="100000"/>
              </a:lnSpc>
              <a:buNone/>
            </a:pPr>
            <a:r>
              <a:rPr lang="en-US" sz="1600" b="1" dirty="0">
                <a:solidFill>
                  <a:srgbClr val="FFFFFF"/>
                </a:solidFill>
                <a:latin typeface="Inter Bold" pitchFamily="34" charset="0"/>
                <a:ea typeface="Inter Bold" pitchFamily="34" charset="-122"/>
                <a:cs typeface="Inter Bold" pitchFamily="34" charset="-120"/>
              </a:rPr>
              <a:t>8</a:t>
            </a:r>
            <a:endParaRPr lang="en-US" sz="1600" dirty="0"/>
          </a:p>
        </p:txBody>
      </p:sp>
      <p:sp>
        <p:nvSpPr>
          <p:cNvPr id="30" name="Text 20"/>
          <p:cNvSpPr/>
          <p:nvPr/>
        </p:nvSpPr>
        <p:spPr>
          <a:xfrm>
            <a:off x="9119662" y="4311452"/>
            <a:ext cx="2220262" cy="267593"/>
          </a:xfrm>
          <a:prstGeom prst="rect">
            <a:avLst/>
          </a:prstGeom>
          <a:noFill/>
          <a:ln/>
        </p:spPr>
        <p:txBody>
          <a:bodyPr wrap="none" lIns="0" tIns="0" rIns="0" bIns="0" rtlCol="0" anchor="t"/>
          <a:lstStyle/>
          <a:p>
            <a:pPr algn="l" indent="0" marL="0">
              <a:lnSpc>
                <a:spcPct val="104000"/>
              </a:lnSpc>
              <a:buNone/>
            </a:pPr>
            <a:r>
              <a:rPr lang="en-US" sz="1650" b="1" dirty="0">
                <a:solidFill>
                  <a:srgbClr val="272525"/>
                </a:solidFill>
                <a:latin typeface="Inter Bold" pitchFamily="34" charset="0"/>
                <a:ea typeface="Inter Bold" pitchFamily="34" charset="-122"/>
                <a:cs typeface="Inter Bold" pitchFamily="34" charset="-120"/>
              </a:rPr>
              <a:t>Model Accuracy</a:t>
            </a:r>
            <a:endParaRPr lang="en-US" sz="1650" dirty="0"/>
          </a:p>
        </p:txBody>
      </p:sp>
      <p:pic>
        <p:nvPicPr>
          <p:cNvPr id="31"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61475" y="5192117"/>
            <a:ext cx="3519399" cy="1143000"/>
          </a:xfrm>
          <a:prstGeom prst="rect">
            <a:avLst/>
          </a:prstGeom>
        </p:spPr>
      </p:pic>
      <p:sp>
        <p:nvSpPr>
          <p:cNvPr id="32" name="Text 21"/>
          <p:cNvSpPr/>
          <p:nvPr/>
        </p:nvSpPr>
        <p:spPr>
          <a:xfrm>
            <a:off x="2318436" y="5320605"/>
            <a:ext cx="205477" cy="256877"/>
          </a:xfrm>
          <a:prstGeom prst="rect">
            <a:avLst/>
          </a:prstGeom>
          <a:noFill/>
          <a:ln/>
        </p:spPr>
        <p:txBody>
          <a:bodyPr wrap="none" lIns="0" tIns="0" rIns="0" bIns="0" rtlCol="0" anchor="ctr"/>
          <a:lstStyle/>
          <a:p>
            <a:pPr algn="ctr" indent="0" marL="0">
              <a:lnSpc>
                <a:spcPct val="100000"/>
              </a:lnSpc>
              <a:buNone/>
            </a:pPr>
            <a:r>
              <a:rPr lang="en-US" sz="1600" b="1" dirty="0">
                <a:solidFill>
                  <a:srgbClr val="FFFFFF"/>
                </a:solidFill>
                <a:latin typeface="Inter Bold" pitchFamily="34" charset="0"/>
                <a:ea typeface="Inter Bold" pitchFamily="34" charset="-122"/>
                <a:cs typeface="Inter Bold" pitchFamily="34" charset="-120"/>
              </a:rPr>
              <a:t>9</a:t>
            </a:r>
            <a:endParaRPr lang="en-US" sz="1600" dirty="0"/>
          </a:p>
        </p:txBody>
      </p:sp>
      <p:sp>
        <p:nvSpPr>
          <p:cNvPr id="33" name="Text 22"/>
          <p:cNvSpPr/>
          <p:nvPr/>
        </p:nvSpPr>
        <p:spPr>
          <a:xfrm>
            <a:off x="851772" y="5877223"/>
            <a:ext cx="3138806" cy="267593"/>
          </a:xfrm>
          <a:prstGeom prst="rect">
            <a:avLst/>
          </a:prstGeom>
          <a:noFill/>
          <a:ln/>
        </p:spPr>
        <p:txBody>
          <a:bodyPr wrap="none" lIns="0" tIns="0" rIns="0" bIns="0" rtlCol="0" anchor="t"/>
          <a:lstStyle/>
          <a:p>
            <a:pPr algn="l" indent="0" marL="0">
              <a:lnSpc>
                <a:spcPct val="104000"/>
              </a:lnSpc>
              <a:buNone/>
            </a:pPr>
            <a:r>
              <a:rPr lang="en-US" sz="1650" b="1" dirty="0">
                <a:solidFill>
                  <a:srgbClr val="272525"/>
                </a:solidFill>
                <a:latin typeface="Inter Bold" pitchFamily="34" charset="0"/>
                <a:ea typeface="Inter Bold" pitchFamily="34" charset="-122"/>
                <a:cs typeface="Inter Bold" pitchFamily="34" charset="-120"/>
              </a:rPr>
              <a:t>Project Challenges</a:t>
            </a:r>
            <a:endParaRPr lang="en-US" sz="1650" dirty="0"/>
          </a:p>
        </p:txBody>
      </p:sp>
      <p:pic>
        <p:nvPicPr>
          <p:cNvPr id="34"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336049" y="5192117"/>
            <a:ext cx="3519499" cy="1143000"/>
          </a:xfrm>
          <a:prstGeom prst="rect">
            <a:avLst/>
          </a:prstGeom>
        </p:spPr>
      </p:pic>
      <p:sp>
        <p:nvSpPr>
          <p:cNvPr id="35" name="Text 23"/>
          <p:cNvSpPr/>
          <p:nvPr/>
        </p:nvSpPr>
        <p:spPr>
          <a:xfrm>
            <a:off x="5993010" y="5320605"/>
            <a:ext cx="205477" cy="256877"/>
          </a:xfrm>
          <a:prstGeom prst="rect">
            <a:avLst/>
          </a:prstGeom>
          <a:noFill/>
          <a:ln/>
        </p:spPr>
        <p:txBody>
          <a:bodyPr wrap="none" lIns="0" tIns="0" rIns="0" bIns="0" rtlCol="0" anchor="ctr"/>
          <a:lstStyle/>
          <a:p>
            <a:pPr algn="ctr" indent="0" marL="0">
              <a:lnSpc>
                <a:spcPct val="100000"/>
              </a:lnSpc>
              <a:buNone/>
            </a:pPr>
            <a:r>
              <a:rPr lang="en-US" sz="1600" b="1" dirty="0">
                <a:solidFill>
                  <a:srgbClr val="FFFFFF"/>
                </a:solidFill>
                <a:latin typeface="Inter Bold" pitchFamily="34" charset="0"/>
                <a:ea typeface="Inter Bold" pitchFamily="34" charset="-122"/>
                <a:cs typeface="Inter Bold" pitchFamily="34" charset="-120"/>
              </a:rPr>
              <a:t>10</a:t>
            </a:r>
            <a:endParaRPr lang="en-US" sz="1600" dirty="0"/>
          </a:p>
        </p:txBody>
      </p:sp>
      <p:sp>
        <p:nvSpPr>
          <p:cNvPr id="36" name="Text 24"/>
          <p:cNvSpPr/>
          <p:nvPr/>
        </p:nvSpPr>
        <p:spPr>
          <a:xfrm>
            <a:off x="4526345" y="5877223"/>
            <a:ext cx="3138905" cy="267593"/>
          </a:xfrm>
          <a:prstGeom prst="rect">
            <a:avLst/>
          </a:prstGeom>
          <a:noFill/>
          <a:ln/>
        </p:spPr>
        <p:txBody>
          <a:bodyPr wrap="none" lIns="0" tIns="0" rIns="0" bIns="0" rtlCol="0" anchor="t"/>
          <a:lstStyle/>
          <a:p>
            <a:pPr algn="l" indent="0" marL="0">
              <a:lnSpc>
                <a:spcPct val="104000"/>
              </a:lnSpc>
              <a:buNone/>
            </a:pPr>
            <a:r>
              <a:rPr lang="en-US" sz="1650" b="1" dirty="0">
                <a:solidFill>
                  <a:srgbClr val="272525"/>
                </a:solidFill>
                <a:latin typeface="Inter Bold" pitchFamily="34" charset="0"/>
                <a:ea typeface="Inter Bold" pitchFamily="34" charset="-122"/>
                <a:cs typeface="Inter Bold" pitchFamily="34" charset="-120"/>
              </a:rPr>
              <a:t>Live Demo</a:t>
            </a:r>
            <a:endParaRPr lang="en-US" sz="1650" dirty="0"/>
          </a:p>
        </p:txBody>
      </p:sp>
      <p:pic>
        <p:nvPicPr>
          <p:cNvPr id="37"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010721" y="5192117"/>
            <a:ext cx="3519499" cy="1143000"/>
          </a:xfrm>
          <a:prstGeom prst="rect">
            <a:avLst/>
          </a:prstGeom>
        </p:spPr>
      </p:pic>
      <p:sp>
        <p:nvSpPr>
          <p:cNvPr id="38" name="Text 25"/>
          <p:cNvSpPr/>
          <p:nvPr/>
        </p:nvSpPr>
        <p:spPr>
          <a:xfrm>
            <a:off x="9667683" y="5320605"/>
            <a:ext cx="205477" cy="256877"/>
          </a:xfrm>
          <a:prstGeom prst="rect">
            <a:avLst/>
          </a:prstGeom>
          <a:noFill/>
          <a:ln/>
        </p:spPr>
        <p:txBody>
          <a:bodyPr wrap="none" lIns="0" tIns="0" rIns="0" bIns="0" rtlCol="0" anchor="ctr"/>
          <a:lstStyle/>
          <a:p>
            <a:pPr algn="ctr" indent="0" marL="0">
              <a:lnSpc>
                <a:spcPct val="100000"/>
              </a:lnSpc>
              <a:buNone/>
            </a:pPr>
            <a:r>
              <a:rPr lang="en-US" sz="1600" b="1" dirty="0">
                <a:solidFill>
                  <a:srgbClr val="FFFFFF"/>
                </a:solidFill>
                <a:latin typeface="Inter Bold" pitchFamily="34" charset="0"/>
                <a:ea typeface="Inter Bold" pitchFamily="34" charset="-122"/>
                <a:cs typeface="Inter Bold" pitchFamily="34" charset="-120"/>
              </a:rPr>
              <a:t>11</a:t>
            </a:r>
            <a:endParaRPr lang="en-US" sz="1600" dirty="0"/>
          </a:p>
        </p:txBody>
      </p:sp>
      <p:sp>
        <p:nvSpPr>
          <p:cNvPr id="39" name="Text 26"/>
          <p:cNvSpPr/>
          <p:nvPr/>
        </p:nvSpPr>
        <p:spPr>
          <a:xfrm>
            <a:off x="8201018" y="5877223"/>
            <a:ext cx="3138905" cy="267593"/>
          </a:xfrm>
          <a:prstGeom prst="rect">
            <a:avLst/>
          </a:prstGeom>
          <a:noFill/>
          <a:ln/>
        </p:spPr>
        <p:txBody>
          <a:bodyPr wrap="none" lIns="0" tIns="0" rIns="0" bIns="0" rtlCol="0" anchor="t"/>
          <a:lstStyle/>
          <a:p>
            <a:pPr algn="l" indent="0" marL="0">
              <a:lnSpc>
                <a:spcPct val="104000"/>
              </a:lnSpc>
              <a:buNone/>
            </a:pPr>
            <a:r>
              <a:rPr lang="en-US" sz="1650" b="1" dirty="0">
                <a:solidFill>
                  <a:srgbClr val="272525"/>
                </a:solidFill>
                <a:latin typeface="Inter Bold" pitchFamily="34" charset="0"/>
                <a:ea typeface="Inter Bold" pitchFamily="34" charset="-122"/>
                <a:cs typeface="Inter Bold" pitchFamily="34" charset="-120"/>
              </a:rPr>
              <a:t>Conclusion</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519807"/>
            <a:ext cx="1369879" cy="282674"/>
          </a:xfrm>
          <a:prstGeom prst="roundRect">
            <a:avLst>
              <a:gd name="adj" fmla="val 22117"/>
            </a:avLst>
          </a:prstGeom>
          <a:noFill/>
          <a:ln w="6350">
            <a:solidFill>
              <a:srgbClr val="4950BC"/>
            </a:solidFill>
            <a:prstDash val="solid"/>
          </a:ln>
        </p:spPr>
      </p:sp>
      <p:sp>
        <p:nvSpPr>
          <p:cNvPr id="3" name="Text 1"/>
          <p:cNvSpPr/>
          <p:nvPr/>
        </p:nvSpPr>
        <p:spPr>
          <a:xfrm>
            <a:off x="773093" y="575568"/>
            <a:ext cx="1756227" cy="171152"/>
          </a:xfrm>
          <a:prstGeom prst="rect">
            <a:avLst/>
          </a:prstGeom>
          <a:noFill/>
          <a:ln/>
        </p:spPr>
        <p:txBody>
          <a:bodyPr wrap="none" lIns="0" tIns="0" rIns="0" bIns="0" rtlCol="0" anchor="t"/>
          <a:lstStyle/>
          <a:p>
            <a:pPr algn="l" indent="0" marL="0">
              <a:lnSpc>
                <a:spcPct val="96000"/>
              </a:lnSpc>
              <a:buNone/>
            </a:pPr>
            <a:r>
              <a:rPr lang="en-US" sz="1150" dirty="0">
                <a:solidFill>
                  <a:srgbClr val="4950BC"/>
                </a:solidFill>
                <a:latin typeface="Inter" pitchFamily="34" charset="0"/>
                <a:ea typeface="Inter" pitchFamily="34" charset="-122"/>
                <a:cs typeface="Inter" pitchFamily="34" charset="-120"/>
              </a:rPr>
              <a:t>INTRODUCTION</a:t>
            </a:r>
            <a:endParaRPr lang="en-US" sz="1150" dirty="0"/>
          </a:p>
        </p:txBody>
      </p:sp>
      <p:sp>
        <p:nvSpPr>
          <p:cNvPr id="4" name="Text 2"/>
          <p:cNvSpPr/>
          <p:nvPr/>
        </p:nvSpPr>
        <p:spPr>
          <a:xfrm>
            <a:off x="661475" y="875705"/>
            <a:ext cx="10868745" cy="581422"/>
          </a:xfrm>
          <a:prstGeom prst="rect">
            <a:avLst/>
          </a:prstGeom>
          <a:noFill/>
          <a:ln/>
        </p:spPr>
        <p:txBody>
          <a:bodyPr wrap="none" lIns="0" tIns="0" rIns="0" bIns="0" rtlCol="0" anchor="t"/>
          <a:lstStyle/>
          <a:p>
            <a:pPr algn="ctr" indent="0" marL="0">
              <a:lnSpc>
                <a:spcPct val="104000"/>
              </a:lnSpc>
              <a:buNone/>
            </a:pPr>
            <a:r>
              <a:rPr lang="en-US" sz="3650" b="1" dirty="0">
                <a:solidFill>
                  <a:srgbClr val="000000"/>
                </a:solidFill>
                <a:latin typeface="Inter Bold" pitchFamily="34" charset="0"/>
                <a:ea typeface="Inter Bold" pitchFamily="34" charset="-122"/>
                <a:cs typeface="Inter Bold" pitchFamily="34" charset="-120"/>
              </a:rPr>
              <a:t>INTRODUCTION</a:t>
            </a:r>
            <a:endParaRPr lang="en-US" sz="3650" dirty="0"/>
          </a:p>
        </p:txBody>
      </p:sp>
      <p:sp>
        <p:nvSpPr>
          <p:cNvPr id="5" name="Text 3"/>
          <p:cNvSpPr/>
          <p:nvPr/>
        </p:nvSpPr>
        <p:spPr>
          <a:xfrm>
            <a:off x="356682" y="1731863"/>
            <a:ext cx="11478330" cy="295275"/>
          </a:xfrm>
          <a:prstGeom prst="rect">
            <a:avLst/>
          </a:prstGeom>
          <a:noFill/>
          <a:ln/>
        </p:spPr>
        <p:txBody>
          <a:bodyPr wrap="none" lIns="0" tIns="0" rIns="0" bIns="0" rtlCol="0" anchor="t"/>
          <a:lstStyle/>
          <a:p>
            <a:pPr algn="ctr" indent="0" marL="0">
              <a:lnSpc>
                <a:spcPct val="132000"/>
              </a:lnSpc>
              <a:buNone/>
            </a:pPr>
            <a:r>
              <a:rPr lang="en-US" sz="1450" dirty="0">
                <a:solidFill>
                  <a:srgbClr val="272525"/>
                </a:solidFill>
                <a:latin typeface="Inter" pitchFamily="34" charset="0"/>
                <a:ea typeface="Inter" pitchFamily="34" charset="-122"/>
                <a:cs typeface="Inter" pitchFamily="34" charset="-120"/>
              </a:rPr>
              <a:t>A clear path from data preparation to insight-driven career guidance.</a:t>
            </a:r>
            <a:endParaRPr lang="en-US" sz="1450" dirty="0"/>
          </a:p>
        </p:txBody>
      </p:sp>
      <p:sp>
        <p:nvSpPr>
          <p:cNvPr id="6" name="Shape 4"/>
          <p:cNvSpPr/>
          <p:nvPr/>
        </p:nvSpPr>
        <p:spPr>
          <a:xfrm>
            <a:off x="661475" y="2279551"/>
            <a:ext cx="10868745" cy="25400"/>
          </a:xfrm>
          <a:prstGeom prst="roundRect">
            <a:avLst>
              <a:gd name="adj" fmla="val 59999"/>
            </a:avLst>
          </a:prstGeom>
          <a:solidFill>
            <a:srgbClr val="272525">
              <a:alpha val="50000"/>
            </a:srgbClr>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557363"/>
            <a:ext cx="5342796" cy="1946771"/>
          </a:xfrm>
          <a:prstGeom prst="rect">
            <a:avLst/>
          </a:prstGeom>
        </p:spPr>
      </p:pic>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21255" y="2724745"/>
            <a:ext cx="223237" cy="223242"/>
          </a:xfrm>
          <a:prstGeom prst="rect">
            <a:avLst/>
          </a:prstGeom>
        </p:spPr>
      </p:pic>
      <p:sp>
        <p:nvSpPr>
          <p:cNvPr id="9" name="Text 5"/>
          <p:cNvSpPr/>
          <p:nvPr/>
        </p:nvSpPr>
        <p:spPr>
          <a:xfrm>
            <a:off x="872905" y="3301603"/>
            <a:ext cx="4919936" cy="290711"/>
          </a:xfrm>
          <a:prstGeom prst="rect">
            <a:avLst/>
          </a:prstGeom>
          <a:noFill/>
          <a:ln/>
        </p:spPr>
        <p:txBody>
          <a:bodyPr wrap="none" lIns="0" tIns="0" rIns="0" bIns="0" rtlCol="0" anchor="t"/>
          <a:lstStyle/>
          <a:p>
            <a:pPr algn="l" indent="0" marL="0">
              <a:lnSpc>
                <a:spcPct val="104000"/>
              </a:lnSpc>
              <a:buNone/>
            </a:pPr>
            <a:r>
              <a:rPr lang="en-US" sz="1800" b="1" dirty="0">
                <a:solidFill>
                  <a:srgbClr val="272525"/>
                </a:solidFill>
                <a:latin typeface="Inter Bold" pitchFamily="34" charset="0"/>
                <a:ea typeface="Inter Bold" pitchFamily="34" charset="-122"/>
                <a:cs typeface="Inter Bold" pitchFamily="34" charset="-120"/>
              </a:rPr>
              <a:t>Data Collection</a:t>
            </a:r>
            <a:endParaRPr lang="en-US" sz="1800" dirty="0"/>
          </a:p>
        </p:txBody>
      </p:sp>
      <p:sp>
        <p:nvSpPr>
          <p:cNvPr id="10" name="Text 6"/>
          <p:cNvSpPr/>
          <p:nvPr/>
        </p:nvSpPr>
        <p:spPr>
          <a:xfrm>
            <a:off x="872905" y="3702149"/>
            <a:ext cx="4919936" cy="590550"/>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272525"/>
                </a:solidFill>
                <a:latin typeface="Inter" pitchFamily="34" charset="0"/>
                <a:ea typeface="Inter" pitchFamily="34" charset="-122"/>
                <a:cs typeface="Inter" pitchFamily="34" charset="-120"/>
              </a:rPr>
              <a:t>Gather and clean historical career data to build the foundation for the project.</a:t>
            </a:r>
            <a:endParaRPr lang="en-US" sz="14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87424" y="2557363"/>
            <a:ext cx="5342796" cy="1946771"/>
          </a:xfrm>
          <a:prstGeom prst="rect">
            <a:avLst/>
          </a:prstGeom>
        </p:spPr>
      </p:pic>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47204" y="2724745"/>
            <a:ext cx="223237" cy="223242"/>
          </a:xfrm>
          <a:prstGeom prst="rect">
            <a:avLst/>
          </a:prstGeom>
        </p:spPr>
      </p:pic>
      <p:sp>
        <p:nvSpPr>
          <p:cNvPr id="13" name="Text 7"/>
          <p:cNvSpPr/>
          <p:nvPr/>
        </p:nvSpPr>
        <p:spPr>
          <a:xfrm>
            <a:off x="6398854" y="3301603"/>
            <a:ext cx="4919936" cy="290711"/>
          </a:xfrm>
          <a:prstGeom prst="rect">
            <a:avLst/>
          </a:prstGeom>
          <a:noFill/>
          <a:ln/>
        </p:spPr>
        <p:txBody>
          <a:bodyPr wrap="none" lIns="0" tIns="0" rIns="0" bIns="0" rtlCol="0" anchor="t"/>
          <a:lstStyle/>
          <a:p>
            <a:pPr algn="l" indent="0" marL="0">
              <a:lnSpc>
                <a:spcPct val="104000"/>
              </a:lnSpc>
              <a:buNone/>
            </a:pPr>
            <a:r>
              <a:rPr lang="en-US" sz="1800" b="1" dirty="0">
                <a:solidFill>
                  <a:srgbClr val="272525"/>
                </a:solidFill>
                <a:latin typeface="Inter Bold" pitchFamily="34" charset="0"/>
                <a:ea typeface="Inter Bold" pitchFamily="34" charset="-122"/>
                <a:cs typeface="Inter Bold" pitchFamily="34" charset="-120"/>
              </a:rPr>
              <a:t>Problem Definition</a:t>
            </a:r>
            <a:endParaRPr lang="en-US" sz="1800" dirty="0"/>
          </a:p>
        </p:txBody>
      </p:sp>
      <p:sp>
        <p:nvSpPr>
          <p:cNvPr id="14" name="Text 8"/>
          <p:cNvSpPr/>
          <p:nvPr/>
        </p:nvSpPr>
        <p:spPr>
          <a:xfrm>
            <a:off x="6398854" y="3702149"/>
            <a:ext cx="4919936" cy="590550"/>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272525"/>
                </a:solidFill>
                <a:latin typeface="Inter" pitchFamily="34" charset="0"/>
                <a:ea typeface="Inter" pitchFamily="34" charset="-122"/>
                <a:cs typeface="Inter" pitchFamily="34" charset="-120"/>
              </a:rPr>
              <a:t>Study patterns and trends to uncover the factors that influence career growth.</a:t>
            </a:r>
            <a:endParaRPr lang="en-US" sz="14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4687292"/>
            <a:ext cx="10868745" cy="1651496"/>
          </a:xfrm>
          <a:prstGeom prst="rect">
            <a:avLst/>
          </a:prstGeom>
        </p:spPr>
      </p:pic>
      <p:pic>
        <p:nvPicPr>
          <p:cNvPr id="1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984229" y="4854674"/>
            <a:ext cx="223237" cy="223242"/>
          </a:xfrm>
          <a:prstGeom prst="rect">
            <a:avLst/>
          </a:prstGeom>
        </p:spPr>
      </p:pic>
      <p:sp>
        <p:nvSpPr>
          <p:cNvPr id="17" name="Text 9"/>
          <p:cNvSpPr/>
          <p:nvPr/>
        </p:nvSpPr>
        <p:spPr>
          <a:xfrm>
            <a:off x="872905" y="5431532"/>
            <a:ext cx="10445886" cy="290711"/>
          </a:xfrm>
          <a:prstGeom prst="rect">
            <a:avLst/>
          </a:prstGeom>
          <a:noFill/>
          <a:ln/>
        </p:spPr>
        <p:txBody>
          <a:bodyPr wrap="none" lIns="0" tIns="0" rIns="0" bIns="0" rtlCol="0" anchor="t"/>
          <a:lstStyle/>
          <a:p>
            <a:pPr algn="l" indent="0" marL="0">
              <a:lnSpc>
                <a:spcPct val="104000"/>
              </a:lnSpc>
              <a:buNone/>
            </a:pPr>
            <a:r>
              <a:rPr lang="en-US" sz="1800" b="1" dirty="0">
                <a:solidFill>
                  <a:srgbClr val="272525"/>
                </a:solidFill>
                <a:latin typeface="Inter Bold" pitchFamily="34" charset="0"/>
                <a:ea typeface="Inter Bold" pitchFamily="34" charset="-122"/>
                <a:cs typeface="Inter Bold" pitchFamily="34" charset="-120"/>
              </a:rPr>
              <a:t>Solution Approach</a:t>
            </a:r>
            <a:endParaRPr lang="en-US" sz="1800" dirty="0"/>
          </a:p>
        </p:txBody>
      </p:sp>
      <p:sp>
        <p:nvSpPr>
          <p:cNvPr id="18" name="Text 10"/>
          <p:cNvSpPr/>
          <p:nvPr/>
        </p:nvSpPr>
        <p:spPr>
          <a:xfrm>
            <a:off x="872905" y="5832078"/>
            <a:ext cx="10445886" cy="295275"/>
          </a:xfrm>
          <a:prstGeom prst="rect">
            <a:avLst/>
          </a:prstGeom>
          <a:noFill/>
          <a:ln/>
        </p:spPr>
        <p:txBody>
          <a:bodyPr wrap="none" lIns="0" tIns="0" rIns="0" bIns="0" rtlCol="0" anchor="t"/>
          <a:lstStyle/>
          <a:p>
            <a:pPr algn="l" indent="0" marL="0">
              <a:lnSpc>
                <a:spcPct val="132000"/>
              </a:lnSpc>
              <a:buNone/>
            </a:pPr>
            <a:r>
              <a:rPr lang="en-US" sz="1450" dirty="0">
                <a:solidFill>
                  <a:srgbClr val="272525"/>
                </a:solidFill>
                <a:latin typeface="Inter" pitchFamily="34" charset="0"/>
                <a:ea typeface="Inter" pitchFamily="34" charset="-122"/>
                <a:cs typeface="Inter" pitchFamily="34" charset="-120"/>
              </a:rPr>
              <a:t>Develop an R Shiny web application to deliver personalized career insights and recommendations.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519807"/>
            <a:ext cx="1141186" cy="282674"/>
          </a:xfrm>
          <a:prstGeom prst="roundRect">
            <a:avLst>
              <a:gd name="adj" fmla="val 22117"/>
            </a:avLst>
          </a:prstGeom>
          <a:noFill/>
          <a:ln w="6350">
            <a:solidFill>
              <a:srgbClr val="4950BC"/>
            </a:solidFill>
            <a:prstDash val="solid"/>
          </a:ln>
        </p:spPr>
      </p:sp>
      <p:sp>
        <p:nvSpPr>
          <p:cNvPr id="3" name="Text 1"/>
          <p:cNvSpPr/>
          <p:nvPr/>
        </p:nvSpPr>
        <p:spPr>
          <a:xfrm>
            <a:off x="773093" y="575568"/>
            <a:ext cx="1527534" cy="171152"/>
          </a:xfrm>
          <a:prstGeom prst="rect">
            <a:avLst/>
          </a:prstGeom>
          <a:noFill/>
          <a:ln/>
        </p:spPr>
        <p:txBody>
          <a:bodyPr wrap="none" lIns="0" tIns="0" rIns="0" bIns="0" rtlCol="0" anchor="t"/>
          <a:lstStyle/>
          <a:p>
            <a:pPr algn="l" indent="0" marL="0">
              <a:lnSpc>
                <a:spcPct val="96000"/>
              </a:lnSpc>
              <a:buNone/>
            </a:pPr>
            <a:r>
              <a:rPr lang="en-US" sz="1150" dirty="0">
                <a:solidFill>
                  <a:srgbClr val="4950BC"/>
                </a:solidFill>
                <a:latin typeface="Inter" pitchFamily="34" charset="0"/>
                <a:ea typeface="Inter" pitchFamily="34" charset="-122"/>
                <a:cs typeface="Inter" pitchFamily="34" charset="-120"/>
              </a:rPr>
              <a:t>OBJECTIVES</a:t>
            </a:r>
            <a:endParaRPr lang="en-US" sz="1150" dirty="0"/>
          </a:p>
        </p:txBody>
      </p:sp>
      <p:sp>
        <p:nvSpPr>
          <p:cNvPr id="4" name="Text 2"/>
          <p:cNvSpPr/>
          <p:nvPr/>
        </p:nvSpPr>
        <p:spPr>
          <a:xfrm>
            <a:off x="661475" y="875705"/>
            <a:ext cx="10868745" cy="581422"/>
          </a:xfrm>
          <a:prstGeom prst="rect">
            <a:avLst/>
          </a:prstGeom>
          <a:noFill/>
          <a:ln/>
        </p:spPr>
        <p:txBody>
          <a:bodyPr wrap="none" lIns="0" tIns="0" rIns="0" bIns="0" rtlCol="0" anchor="t"/>
          <a:lstStyle/>
          <a:p>
            <a:pPr algn="ctr" indent="0" marL="0">
              <a:lnSpc>
                <a:spcPct val="104000"/>
              </a:lnSpc>
              <a:buNone/>
            </a:pPr>
            <a:r>
              <a:rPr lang="en-US" sz="3650" b="1" dirty="0">
                <a:solidFill>
                  <a:srgbClr val="000000"/>
                </a:solidFill>
                <a:latin typeface="Inter Bold" pitchFamily="34" charset="0"/>
                <a:ea typeface="Inter Bold" pitchFamily="34" charset="-122"/>
                <a:cs typeface="Inter Bold" pitchFamily="34" charset="-120"/>
              </a:rPr>
              <a:t>OBJECTIVES</a:t>
            </a:r>
            <a:endParaRPr lang="en-US" sz="3650" dirty="0"/>
          </a:p>
        </p:txBody>
      </p:sp>
      <p:sp>
        <p:nvSpPr>
          <p:cNvPr id="5" name="Text 3"/>
          <p:cNvSpPr/>
          <p:nvPr/>
        </p:nvSpPr>
        <p:spPr>
          <a:xfrm>
            <a:off x="356682" y="1731863"/>
            <a:ext cx="11478330" cy="295275"/>
          </a:xfrm>
          <a:prstGeom prst="rect">
            <a:avLst/>
          </a:prstGeom>
          <a:noFill/>
          <a:ln/>
        </p:spPr>
        <p:txBody>
          <a:bodyPr wrap="none" lIns="0" tIns="0" rIns="0" bIns="0" rtlCol="0" anchor="t"/>
          <a:lstStyle/>
          <a:p>
            <a:pPr algn="ctr" indent="0" marL="0">
              <a:lnSpc>
                <a:spcPct val="132000"/>
              </a:lnSpc>
              <a:buNone/>
            </a:pPr>
            <a:r>
              <a:rPr lang="en-US" sz="1450" dirty="0">
                <a:solidFill>
                  <a:srgbClr val="272525"/>
                </a:solidFill>
                <a:latin typeface="Inter" pitchFamily="34" charset="0"/>
                <a:ea typeface="Inter" pitchFamily="34" charset="-122"/>
                <a:cs typeface="Inter" pitchFamily="34" charset="-120"/>
              </a:rPr>
              <a:t>The project focuses on building a practical, data-driven career guidance solution.</a:t>
            </a:r>
            <a:endParaRPr lang="en-US" sz="1450" dirty="0"/>
          </a:p>
        </p:txBody>
      </p:sp>
      <p:sp>
        <p:nvSpPr>
          <p:cNvPr id="6" name="Shape 4"/>
          <p:cNvSpPr/>
          <p:nvPr/>
        </p:nvSpPr>
        <p:spPr>
          <a:xfrm>
            <a:off x="661475" y="2279551"/>
            <a:ext cx="10868745" cy="25400"/>
          </a:xfrm>
          <a:prstGeom prst="roundRect">
            <a:avLst>
              <a:gd name="adj" fmla="val 59999"/>
            </a:avLst>
          </a:prstGeom>
          <a:solidFill>
            <a:srgbClr val="272525">
              <a:alpha val="50000"/>
            </a:srgbClr>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557363"/>
            <a:ext cx="3500747" cy="1946771"/>
          </a:xfrm>
          <a:prstGeom prst="rect">
            <a:avLst/>
          </a:prstGeom>
        </p:spPr>
      </p:pic>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00230" y="2724745"/>
            <a:ext cx="223237" cy="223242"/>
          </a:xfrm>
          <a:prstGeom prst="rect">
            <a:avLst/>
          </a:prstGeom>
        </p:spPr>
      </p:pic>
      <p:sp>
        <p:nvSpPr>
          <p:cNvPr id="9" name="Text 5"/>
          <p:cNvSpPr/>
          <p:nvPr/>
        </p:nvSpPr>
        <p:spPr>
          <a:xfrm>
            <a:off x="872905" y="3301603"/>
            <a:ext cx="3077887" cy="290711"/>
          </a:xfrm>
          <a:prstGeom prst="rect">
            <a:avLst/>
          </a:prstGeom>
          <a:noFill/>
          <a:ln/>
        </p:spPr>
        <p:txBody>
          <a:bodyPr wrap="none" lIns="0" tIns="0" rIns="0" bIns="0" rtlCol="0" anchor="t"/>
          <a:lstStyle/>
          <a:p>
            <a:pPr algn="l" indent="0" marL="0">
              <a:lnSpc>
                <a:spcPct val="104000"/>
              </a:lnSpc>
              <a:buNone/>
            </a:pPr>
            <a:r>
              <a:rPr lang="en-US" sz="1800" b="1" dirty="0">
                <a:solidFill>
                  <a:srgbClr val="272525"/>
                </a:solidFill>
                <a:latin typeface="Inter Bold" pitchFamily="34" charset="0"/>
                <a:ea typeface="Inter Bold" pitchFamily="34" charset="-122"/>
                <a:cs typeface="Inter Bold" pitchFamily="34" charset="-120"/>
              </a:rPr>
              <a:t>Data Analysis</a:t>
            </a:r>
            <a:endParaRPr lang="en-US" sz="1800" dirty="0"/>
          </a:p>
        </p:txBody>
      </p:sp>
      <p:sp>
        <p:nvSpPr>
          <p:cNvPr id="10" name="Text 6"/>
          <p:cNvSpPr/>
          <p:nvPr/>
        </p:nvSpPr>
        <p:spPr>
          <a:xfrm>
            <a:off x="872905" y="3702149"/>
            <a:ext cx="3077887" cy="590550"/>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272525"/>
                </a:solidFill>
                <a:latin typeface="Inter" pitchFamily="34" charset="0"/>
                <a:ea typeface="Inter" pitchFamily="34" charset="-122"/>
                <a:cs typeface="Inter" pitchFamily="34" charset="-120"/>
              </a:rPr>
              <a:t>Identify key factors driving career advancement</a:t>
            </a:r>
            <a:endParaRPr lang="en-US" sz="14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45375" y="2557363"/>
            <a:ext cx="3500846" cy="1946771"/>
          </a:xfrm>
          <a:prstGeom prst="rect">
            <a:avLst/>
          </a:prstGeom>
        </p:spPr>
      </p:pic>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84130" y="2724745"/>
            <a:ext cx="223237" cy="223242"/>
          </a:xfrm>
          <a:prstGeom prst="rect">
            <a:avLst/>
          </a:prstGeom>
        </p:spPr>
      </p:pic>
      <p:sp>
        <p:nvSpPr>
          <p:cNvPr id="13" name="Text 7"/>
          <p:cNvSpPr/>
          <p:nvPr/>
        </p:nvSpPr>
        <p:spPr>
          <a:xfrm>
            <a:off x="4556805" y="3301603"/>
            <a:ext cx="3077986" cy="290711"/>
          </a:xfrm>
          <a:prstGeom prst="rect">
            <a:avLst/>
          </a:prstGeom>
          <a:noFill/>
          <a:ln/>
        </p:spPr>
        <p:txBody>
          <a:bodyPr wrap="none" lIns="0" tIns="0" rIns="0" bIns="0" rtlCol="0" anchor="t"/>
          <a:lstStyle/>
          <a:p>
            <a:pPr algn="l" indent="0" marL="0">
              <a:lnSpc>
                <a:spcPct val="104000"/>
              </a:lnSpc>
              <a:buNone/>
            </a:pPr>
            <a:r>
              <a:rPr lang="en-US" sz="1800" b="1" dirty="0">
                <a:solidFill>
                  <a:srgbClr val="272525"/>
                </a:solidFill>
                <a:latin typeface="Inter Bold" pitchFamily="34" charset="0"/>
                <a:ea typeface="Inter Bold" pitchFamily="34" charset="-122"/>
                <a:cs typeface="Inter Bold" pitchFamily="34" charset="-120"/>
              </a:rPr>
              <a:t>Model Development</a:t>
            </a:r>
            <a:endParaRPr lang="en-US" sz="1800" dirty="0"/>
          </a:p>
        </p:txBody>
      </p:sp>
      <p:sp>
        <p:nvSpPr>
          <p:cNvPr id="14" name="Text 8"/>
          <p:cNvSpPr/>
          <p:nvPr/>
        </p:nvSpPr>
        <p:spPr>
          <a:xfrm>
            <a:off x="4556805" y="3702149"/>
            <a:ext cx="3077986" cy="590550"/>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272525"/>
                </a:solidFill>
                <a:latin typeface="Inter" pitchFamily="34" charset="0"/>
                <a:ea typeface="Inter" pitchFamily="34" charset="-122"/>
                <a:cs typeface="Inter" pitchFamily="34" charset="-120"/>
              </a:rPr>
              <a:t>Develop predictive models using Random Forest</a:t>
            </a:r>
            <a:endParaRPr lang="en-US" sz="14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29374" y="2557363"/>
            <a:ext cx="3500747" cy="1946771"/>
          </a:xfrm>
          <a:prstGeom prst="rect">
            <a:avLst/>
          </a:prstGeom>
        </p:spPr>
      </p:pic>
      <p:pic>
        <p:nvPicPr>
          <p:cNvPr id="1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68129" y="2724745"/>
            <a:ext cx="223237" cy="223242"/>
          </a:xfrm>
          <a:prstGeom prst="rect">
            <a:avLst/>
          </a:prstGeom>
        </p:spPr>
      </p:pic>
      <p:sp>
        <p:nvSpPr>
          <p:cNvPr id="17" name="Text 9"/>
          <p:cNvSpPr/>
          <p:nvPr/>
        </p:nvSpPr>
        <p:spPr>
          <a:xfrm>
            <a:off x="8240804" y="3301603"/>
            <a:ext cx="3077887" cy="290711"/>
          </a:xfrm>
          <a:prstGeom prst="rect">
            <a:avLst/>
          </a:prstGeom>
          <a:noFill/>
          <a:ln/>
        </p:spPr>
        <p:txBody>
          <a:bodyPr wrap="none" lIns="0" tIns="0" rIns="0" bIns="0" rtlCol="0" anchor="t"/>
          <a:lstStyle/>
          <a:p>
            <a:pPr algn="l" indent="0" marL="0">
              <a:lnSpc>
                <a:spcPct val="104000"/>
              </a:lnSpc>
              <a:buNone/>
            </a:pPr>
            <a:r>
              <a:rPr lang="en-US" sz="1800" b="1" dirty="0">
                <a:solidFill>
                  <a:srgbClr val="272525"/>
                </a:solidFill>
                <a:latin typeface="Inter Bold" pitchFamily="34" charset="0"/>
                <a:ea typeface="Inter Bold" pitchFamily="34" charset="-122"/>
                <a:cs typeface="Inter Bold" pitchFamily="34" charset="-120"/>
              </a:rPr>
              <a:t>Prediction Accuracy</a:t>
            </a:r>
            <a:endParaRPr lang="en-US" sz="1800" dirty="0"/>
          </a:p>
        </p:txBody>
      </p:sp>
      <p:sp>
        <p:nvSpPr>
          <p:cNvPr id="18" name="Text 10"/>
          <p:cNvSpPr/>
          <p:nvPr/>
        </p:nvSpPr>
        <p:spPr>
          <a:xfrm>
            <a:off x="8240804" y="3702149"/>
            <a:ext cx="3077887" cy="590550"/>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272525"/>
                </a:solidFill>
                <a:latin typeface="Inter" pitchFamily="34" charset="0"/>
                <a:ea typeface="Inter" pitchFamily="34" charset="-122"/>
                <a:cs typeface="Inter" pitchFamily="34" charset="-120"/>
              </a:rPr>
              <a:t>Provide actionable career guidance</a:t>
            </a:r>
            <a:endParaRPr lang="en-US" sz="1450" dirty="0"/>
          </a:p>
        </p:txBody>
      </p:sp>
      <p:pic>
        <p:nvPicPr>
          <p:cNvPr id="19"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1475" y="4687292"/>
            <a:ext cx="10868646" cy="1651496"/>
          </a:xfrm>
          <a:prstGeom prst="rect">
            <a:avLst/>
          </a:prstGeom>
        </p:spPr>
      </p:pic>
      <p:pic>
        <p:nvPicPr>
          <p:cNvPr id="20"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984130" y="4854674"/>
            <a:ext cx="223237" cy="223242"/>
          </a:xfrm>
          <a:prstGeom prst="rect">
            <a:avLst/>
          </a:prstGeom>
        </p:spPr>
      </p:pic>
      <p:sp>
        <p:nvSpPr>
          <p:cNvPr id="21" name="Text 11"/>
          <p:cNvSpPr/>
          <p:nvPr/>
        </p:nvSpPr>
        <p:spPr>
          <a:xfrm>
            <a:off x="872905" y="5431532"/>
            <a:ext cx="10445786" cy="290711"/>
          </a:xfrm>
          <a:prstGeom prst="rect">
            <a:avLst/>
          </a:prstGeom>
          <a:noFill/>
          <a:ln/>
        </p:spPr>
        <p:txBody>
          <a:bodyPr wrap="none" lIns="0" tIns="0" rIns="0" bIns="0" rtlCol="0" anchor="t"/>
          <a:lstStyle/>
          <a:p>
            <a:pPr algn="l" indent="0" marL="0">
              <a:lnSpc>
                <a:spcPct val="104000"/>
              </a:lnSpc>
              <a:buNone/>
            </a:pPr>
            <a:r>
              <a:rPr lang="en-US" sz="1800" b="1" dirty="0">
                <a:solidFill>
                  <a:srgbClr val="272525"/>
                </a:solidFill>
                <a:latin typeface="Inter Bold" pitchFamily="34" charset="0"/>
                <a:ea typeface="Inter Bold" pitchFamily="34" charset="-122"/>
                <a:cs typeface="Inter Bold" pitchFamily="34" charset="-120"/>
              </a:rPr>
              <a:t>User Interface</a:t>
            </a:r>
            <a:endParaRPr lang="en-US" sz="1800" dirty="0"/>
          </a:p>
        </p:txBody>
      </p:sp>
      <p:sp>
        <p:nvSpPr>
          <p:cNvPr id="22" name="Text 12"/>
          <p:cNvSpPr/>
          <p:nvPr/>
        </p:nvSpPr>
        <p:spPr>
          <a:xfrm>
            <a:off x="872905" y="5832078"/>
            <a:ext cx="10445786" cy="295275"/>
          </a:xfrm>
          <a:prstGeom prst="rect">
            <a:avLst/>
          </a:prstGeom>
          <a:noFill/>
          <a:ln/>
        </p:spPr>
        <p:txBody>
          <a:bodyPr wrap="none" lIns="0" tIns="0" rIns="0" bIns="0" rtlCol="0" anchor="t"/>
          <a:lstStyle/>
          <a:p>
            <a:pPr algn="l" indent="0" marL="0">
              <a:lnSpc>
                <a:spcPct val="132000"/>
              </a:lnSpc>
              <a:buNone/>
            </a:pPr>
            <a:r>
              <a:rPr lang="en-US" sz="1450" dirty="0">
                <a:solidFill>
                  <a:srgbClr val="272525"/>
                </a:solidFill>
                <a:latin typeface="Inter" pitchFamily="34" charset="0"/>
                <a:ea typeface="Inter" pitchFamily="34" charset="-122"/>
                <a:cs typeface="Inter" pitchFamily="34" charset="-120"/>
              </a:rPr>
              <a:t>Create an easy-to-use web application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610791"/>
            <a:ext cx="1667726" cy="287139"/>
          </a:xfrm>
          <a:prstGeom prst="roundRect">
            <a:avLst>
              <a:gd name="adj" fmla="val 22118"/>
            </a:avLst>
          </a:prstGeom>
          <a:noFill/>
          <a:ln w="6350">
            <a:solidFill>
              <a:srgbClr val="4950BC"/>
            </a:solidFill>
            <a:prstDash val="solid"/>
          </a:ln>
        </p:spPr>
      </p:sp>
      <p:sp>
        <p:nvSpPr>
          <p:cNvPr id="3" name="Text 1"/>
          <p:cNvSpPr/>
          <p:nvPr/>
        </p:nvSpPr>
        <p:spPr>
          <a:xfrm>
            <a:off x="774879" y="667445"/>
            <a:ext cx="2050503" cy="173831"/>
          </a:xfrm>
          <a:prstGeom prst="rect">
            <a:avLst/>
          </a:prstGeom>
          <a:noFill/>
          <a:ln/>
        </p:spPr>
        <p:txBody>
          <a:bodyPr wrap="none" lIns="0" tIns="0" rIns="0" bIns="0" rtlCol="0" anchor="t"/>
          <a:lstStyle/>
          <a:p>
            <a:pPr algn="l" indent="0" marL="0">
              <a:lnSpc>
                <a:spcPct val="96000"/>
              </a:lnSpc>
              <a:buNone/>
            </a:pPr>
            <a:r>
              <a:rPr lang="en-US" sz="1150" dirty="0">
                <a:solidFill>
                  <a:srgbClr val="4950BC"/>
                </a:solidFill>
                <a:latin typeface="Inter" pitchFamily="34" charset="0"/>
                <a:ea typeface="Inter" pitchFamily="34" charset="-122"/>
                <a:cs typeface="Inter" pitchFamily="34" charset="-120"/>
              </a:rPr>
              <a:t>TOOLS &amp; LIBRARIES</a:t>
            </a:r>
            <a:endParaRPr lang="en-US" sz="1150" dirty="0"/>
          </a:p>
        </p:txBody>
      </p:sp>
      <p:sp>
        <p:nvSpPr>
          <p:cNvPr id="4" name="Text 2"/>
          <p:cNvSpPr/>
          <p:nvPr/>
        </p:nvSpPr>
        <p:spPr>
          <a:xfrm>
            <a:off x="661475" y="973534"/>
            <a:ext cx="10868745" cy="590649"/>
          </a:xfrm>
          <a:prstGeom prst="rect">
            <a:avLst/>
          </a:prstGeom>
          <a:noFill/>
          <a:ln/>
        </p:spPr>
        <p:txBody>
          <a:bodyPr wrap="none" lIns="0" tIns="0" rIns="0" bIns="0" rtlCol="0" anchor="t"/>
          <a:lstStyle/>
          <a:p>
            <a:pPr algn="ctr" indent="0" marL="0">
              <a:lnSpc>
                <a:spcPct val="104000"/>
              </a:lnSpc>
              <a:buNone/>
            </a:pPr>
            <a:r>
              <a:rPr lang="en-US" sz="3700" b="1" dirty="0">
                <a:solidFill>
                  <a:srgbClr val="000000"/>
                </a:solidFill>
                <a:latin typeface="Inter Bold" pitchFamily="34" charset="0"/>
                <a:ea typeface="Inter Bold" pitchFamily="34" charset="-122"/>
                <a:cs typeface="Inter Bold" pitchFamily="34" charset="-120"/>
              </a:rPr>
              <a:t>TOOLS &amp; LIBRARIES</a:t>
            </a:r>
            <a:endParaRPr lang="en-US" sz="3700" dirty="0"/>
          </a:p>
        </p:txBody>
      </p:sp>
      <p:sp>
        <p:nvSpPr>
          <p:cNvPr id="5" name="Text 3"/>
          <p:cNvSpPr/>
          <p:nvPr/>
        </p:nvSpPr>
        <p:spPr>
          <a:xfrm>
            <a:off x="356682" y="1847652"/>
            <a:ext cx="11478330" cy="302419"/>
          </a:xfrm>
          <a:prstGeom prst="rect">
            <a:avLst/>
          </a:prstGeom>
          <a:noFill/>
          <a:ln/>
        </p:spPr>
        <p:txBody>
          <a:bodyPr wrap="none" lIns="0" tIns="0" rIns="0" bIns="0" rtlCol="0" anchor="t"/>
          <a:lstStyle/>
          <a:p>
            <a:pPr algn="ctr" indent="0" marL="0">
              <a:lnSpc>
                <a:spcPct val="133000"/>
              </a:lnSpc>
              <a:buNone/>
            </a:pPr>
            <a:r>
              <a:rPr lang="en-US" sz="1450" dirty="0">
                <a:solidFill>
                  <a:srgbClr val="272525"/>
                </a:solidFill>
                <a:latin typeface="Inter" pitchFamily="34" charset="0"/>
                <a:ea typeface="Inter" pitchFamily="34" charset="-122"/>
                <a:cs typeface="Inter" pitchFamily="34" charset="-120"/>
              </a:rPr>
              <a:t>A streamlined stack for building, modeling, visualizing, and evaluating the career guidance solution.</a:t>
            </a:r>
            <a:endParaRPr lang="en-US" sz="1450" dirty="0"/>
          </a:p>
        </p:txBody>
      </p:sp>
      <p:sp>
        <p:nvSpPr>
          <p:cNvPr id="6" name="Shape 4"/>
          <p:cNvSpPr/>
          <p:nvPr/>
        </p:nvSpPr>
        <p:spPr>
          <a:xfrm>
            <a:off x="661475" y="2409924"/>
            <a:ext cx="10868745" cy="25400"/>
          </a:xfrm>
          <a:prstGeom prst="roundRect">
            <a:avLst>
              <a:gd name="adj" fmla="val 59999"/>
            </a:avLst>
          </a:prstGeom>
          <a:solidFill>
            <a:srgbClr val="272525">
              <a:alpha val="50000"/>
            </a:srgbClr>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95178"/>
            <a:ext cx="3496877" cy="1681460"/>
          </a:xfrm>
          <a:prstGeom prst="rect">
            <a:avLst/>
          </a:prstGeom>
        </p:spPr>
      </p:pic>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96410" y="2865239"/>
            <a:ext cx="226808" cy="226814"/>
          </a:xfrm>
          <a:prstGeom prst="rect">
            <a:avLst/>
          </a:prstGeom>
        </p:spPr>
      </p:pic>
      <p:sp>
        <p:nvSpPr>
          <p:cNvPr id="9" name="Text 5"/>
          <p:cNvSpPr/>
          <p:nvPr/>
        </p:nvSpPr>
        <p:spPr>
          <a:xfrm>
            <a:off x="875881" y="3451126"/>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272525"/>
                </a:solidFill>
                <a:latin typeface="Inter Bold" pitchFamily="34" charset="0"/>
                <a:ea typeface="Inter Bold" pitchFamily="34" charset="-122"/>
                <a:cs typeface="Inter Bold" pitchFamily="34" charset="-120"/>
              </a:rPr>
              <a:t>R + Shiny</a:t>
            </a:r>
            <a:endParaRPr lang="en-US" sz="1850" dirty="0"/>
          </a:p>
        </p:txBody>
      </p:sp>
      <p:sp>
        <p:nvSpPr>
          <p:cNvPr id="10" name="Text 6"/>
          <p:cNvSpPr/>
          <p:nvPr/>
        </p:nvSpPr>
        <p:spPr>
          <a:xfrm>
            <a:off x="875881" y="3859808"/>
            <a:ext cx="3068065" cy="302419"/>
          </a:xfrm>
          <a:prstGeom prst="rect">
            <a:avLst/>
          </a:prstGeom>
          <a:noFill/>
          <a:ln/>
        </p:spPr>
        <p:txBody>
          <a:bodyPr wrap="none" lIns="0" tIns="0" rIns="0" bIns="0" rtlCol="0" anchor="t"/>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Interactive web app</a:t>
            </a:r>
            <a:endParaRPr lang="en-US" sz="14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47359" y="2695178"/>
            <a:ext cx="3496877" cy="1681460"/>
          </a:xfrm>
          <a:prstGeom prst="rect">
            <a:avLst/>
          </a:prstGeom>
        </p:spPr>
      </p:pic>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82294" y="2865239"/>
            <a:ext cx="226808" cy="226814"/>
          </a:xfrm>
          <a:prstGeom prst="rect">
            <a:avLst/>
          </a:prstGeom>
        </p:spPr>
      </p:pic>
      <p:sp>
        <p:nvSpPr>
          <p:cNvPr id="13" name="Text 7"/>
          <p:cNvSpPr/>
          <p:nvPr/>
        </p:nvSpPr>
        <p:spPr>
          <a:xfrm>
            <a:off x="4561766" y="3451126"/>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272525"/>
                </a:solidFill>
                <a:latin typeface="Inter Bold" pitchFamily="34" charset="0"/>
                <a:ea typeface="Inter Bold" pitchFamily="34" charset="-122"/>
                <a:cs typeface="Inter Bold" pitchFamily="34" charset="-120"/>
              </a:rPr>
              <a:t>Data Manipulation</a:t>
            </a:r>
            <a:endParaRPr lang="en-US" sz="1850" dirty="0"/>
          </a:p>
        </p:txBody>
      </p:sp>
      <p:sp>
        <p:nvSpPr>
          <p:cNvPr id="14" name="Text 8"/>
          <p:cNvSpPr/>
          <p:nvPr/>
        </p:nvSpPr>
        <p:spPr>
          <a:xfrm>
            <a:off x="4561766" y="3859808"/>
            <a:ext cx="3068065" cy="302419"/>
          </a:xfrm>
          <a:prstGeom prst="rect">
            <a:avLst/>
          </a:prstGeom>
          <a:noFill/>
          <a:ln/>
        </p:spPr>
        <p:txBody>
          <a:bodyPr wrap="none" lIns="0" tIns="0" rIns="0" bIns="0" rtlCol="0" anchor="t"/>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dplyr, readr</a:t>
            </a:r>
            <a:endParaRPr lang="en-US" sz="14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33244" y="2695178"/>
            <a:ext cx="3496877" cy="1681460"/>
          </a:xfrm>
          <a:prstGeom prst="rect">
            <a:avLst/>
          </a:prstGeom>
        </p:spPr>
      </p:pic>
      <p:pic>
        <p:nvPicPr>
          <p:cNvPr id="1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68179" y="2865239"/>
            <a:ext cx="226808" cy="226814"/>
          </a:xfrm>
          <a:prstGeom prst="rect">
            <a:avLst/>
          </a:prstGeom>
        </p:spPr>
      </p:pic>
      <p:sp>
        <p:nvSpPr>
          <p:cNvPr id="17" name="Text 9"/>
          <p:cNvSpPr/>
          <p:nvPr/>
        </p:nvSpPr>
        <p:spPr>
          <a:xfrm>
            <a:off x="8247650" y="3451126"/>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272525"/>
                </a:solidFill>
                <a:latin typeface="Inter Bold" pitchFamily="34" charset="0"/>
                <a:ea typeface="Inter Bold" pitchFamily="34" charset="-122"/>
                <a:cs typeface="Inter Bold" pitchFamily="34" charset="-120"/>
              </a:rPr>
              <a:t>Machine Learning</a:t>
            </a:r>
            <a:endParaRPr lang="en-US" sz="1850" dirty="0"/>
          </a:p>
        </p:txBody>
      </p:sp>
      <p:sp>
        <p:nvSpPr>
          <p:cNvPr id="18" name="Text 10"/>
          <p:cNvSpPr/>
          <p:nvPr/>
        </p:nvSpPr>
        <p:spPr>
          <a:xfrm>
            <a:off x="8247650" y="3859808"/>
            <a:ext cx="3068065" cy="302419"/>
          </a:xfrm>
          <a:prstGeom prst="rect">
            <a:avLst/>
          </a:prstGeom>
          <a:noFill/>
          <a:ln/>
        </p:spPr>
        <p:txBody>
          <a:bodyPr wrap="none" lIns="0" tIns="0" rIns="0" bIns="0" rtlCol="0" anchor="t"/>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randomForest, glm, svm (e1071)</a:t>
            </a:r>
            <a:endParaRPr lang="en-US" sz="1450" dirty="0"/>
          </a:p>
        </p:txBody>
      </p:sp>
      <p:pic>
        <p:nvPicPr>
          <p:cNvPr id="19"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1475" y="4565650"/>
            <a:ext cx="5339820" cy="1681460"/>
          </a:xfrm>
          <a:prstGeom prst="rect">
            <a:avLst/>
          </a:prstGeom>
        </p:spPr>
      </p:pic>
      <p:pic>
        <p:nvPicPr>
          <p:cNvPr id="20"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217931" y="4735711"/>
            <a:ext cx="226808" cy="226814"/>
          </a:xfrm>
          <a:prstGeom prst="rect">
            <a:avLst/>
          </a:prstGeom>
        </p:spPr>
      </p:pic>
      <p:sp>
        <p:nvSpPr>
          <p:cNvPr id="21" name="Text 11"/>
          <p:cNvSpPr/>
          <p:nvPr/>
        </p:nvSpPr>
        <p:spPr>
          <a:xfrm>
            <a:off x="875881" y="5321598"/>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272525"/>
                </a:solidFill>
                <a:latin typeface="Inter Bold" pitchFamily="34" charset="0"/>
                <a:ea typeface="Inter Bold" pitchFamily="34" charset="-122"/>
                <a:cs typeface="Inter Bold" pitchFamily="34" charset="-120"/>
              </a:rPr>
              <a:t>Visualization</a:t>
            </a:r>
            <a:endParaRPr lang="en-US" sz="1850" dirty="0"/>
          </a:p>
        </p:txBody>
      </p:sp>
      <p:sp>
        <p:nvSpPr>
          <p:cNvPr id="22" name="Text 12"/>
          <p:cNvSpPr/>
          <p:nvPr/>
        </p:nvSpPr>
        <p:spPr>
          <a:xfrm>
            <a:off x="875881" y="5730280"/>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ggplot2, plotly, corrplot</a:t>
            </a:r>
            <a:endParaRPr lang="en-US" sz="1450" dirty="0"/>
          </a:p>
        </p:txBody>
      </p:sp>
      <p:pic>
        <p:nvPicPr>
          <p:cNvPr id="23"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190301" y="4565650"/>
            <a:ext cx="5339820" cy="1681460"/>
          </a:xfrm>
          <a:prstGeom prst="rect">
            <a:avLst/>
          </a:prstGeom>
        </p:spPr>
      </p:pic>
      <p:pic>
        <p:nvPicPr>
          <p:cNvPr id="24"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746757" y="4735711"/>
            <a:ext cx="226808" cy="226814"/>
          </a:xfrm>
          <a:prstGeom prst="rect">
            <a:avLst/>
          </a:prstGeom>
        </p:spPr>
      </p:pic>
      <p:sp>
        <p:nvSpPr>
          <p:cNvPr id="25" name="Text 13"/>
          <p:cNvSpPr/>
          <p:nvPr/>
        </p:nvSpPr>
        <p:spPr>
          <a:xfrm>
            <a:off x="6404708" y="5321598"/>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272525"/>
                </a:solidFill>
                <a:latin typeface="Inter Bold" pitchFamily="34" charset="0"/>
                <a:ea typeface="Inter Bold" pitchFamily="34" charset="-122"/>
                <a:cs typeface="Inter Bold" pitchFamily="34" charset="-120"/>
              </a:rPr>
              <a:t>Statistical Testing</a:t>
            </a:r>
            <a:endParaRPr lang="en-US" sz="1850" dirty="0"/>
          </a:p>
        </p:txBody>
      </p:sp>
      <p:sp>
        <p:nvSpPr>
          <p:cNvPr id="26" name="Text 14"/>
          <p:cNvSpPr/>
          <p:nvPr/>
        </p:nvSpPr>
        <p:spPr>
          <a:xfrm>
            <a:off x="6404708" y="5730280"/>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MLmetrics (F1 Score, Accuracy)</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519807"/>
            <a:ext cx="718723" cy="143470"/>
          </a:xfrm>
          <a:prstGeom prst="roundRect">
            <a:avLst>
              <a:gd name="adj" fmla="val 22134"/>
            </a:avLst>
          </a:prstGeom>
          <a:noFill/>
          <a:ln w="6350">
            <a:solidFill>
              <a:srgbClr val="4950BC"/>
            </a:solidFill>
            <a:prstDash val="solid"/>
          </a:ln>
        </p:spPr>
      </p:sp>
      <p:sp>
        <p:nvSpPr>
          <p:cNvPr id="3" name="Text 1"/>
          <p:cNvSpPr/>
          <p:nvPr/>
        </p:nvSpPr>
        <p:spPr>
          <a:xfrm>
            <a:off x="718127" y="548084"/>
            <a:ext cx="1215002" cy="86916"/>
          </a:xfrm>
          <a:prstGeom prst="rect">
            <a:avLst/>
          </a:prstGeom>
          <a:noFill/>
          <a:ln/>
        </p:spPr>
        <p:txBody>
          <a:bodyPr wrap="none" lIns="0" tIns="0" rIns="0" bIns="0" rtlCol="0" anchor="t"/>
          <a:lstStyle/>
          <a:p>
            <a:pPr algn="l" indent="0" marL="0">
              <a:lnSpc>
                <a:spcPct val="96000"/>
              </a:lnSpc>
              <a:buNone/>
            </a:pPr>
            <a:r>
              <a:rPr lang="en-US" sz="550" dirty="0">
                <a:solidFill>
                  <a:srgbClr val="4950BC"/>
                </a:solidFill>
                <a:latin typeface="Inter" pitchFamily="34" charset="0"/>
                <a:ea typeface="Inter" pitchFamily="34" charset="-122"/>
                <a:cs typeface="Inter" pitchFamily="34" charset="-120"/>
              </a:rPr>
              <a:t>DATA OVERVIEW</a:t>
            </a:r>
            <a:endParaRPr lang="en-US" sz="550" dirty="0"/>
          </a:p>
        </p:txBody>
      </p:sp>
      <p:sp>
        <p:nvSpPr>
          <p:cNvPr id="4" name="Text 2"/>
          <p:cNvSpPr/>
          <p:nvPr/>
        </p:nvSpPr>
        <p:spPr>
          <a:xfrm>
            <a:off x="661475" y="682129"/>
            <a:ext cx="10868745" cy="295275"/>
          </a:xfrm>
          <a:prstGeom prst="rect">
            <a:avLst/>
          </a:prstGeom>
          <a:noFill/>
          <a:ln/>
        </p:spPr>
        <p:txBody>
          <a:bodyPr wrap="none" lIns="0" tIns="0" rIns="0" bIns="0" rtlCol="0" anchor="t"/>
          <a:lstStyle/>
          <a:p>
            <a:pPr algn="ctr" indent="0" marL="0">
              <a:lnSpc>
                <a:spcPct val="104000"/>
              </a:lnSpc>
              <a:buNone/>
            </a:pPr>
            <a:r>
              <a:rPr lang="en-US" sz="1850" b="1" dirty="0">
                <a:solidFill>
                  <a:srgbClr val="000000"/>
                </a:solidFill>
                <a:latin typeface="Inter Bold" pitchFamily="34" charset="0"/>
                <a:ea typeface="Inter Bold" pitchFamily="34" charset="-122"/>
                <a:cs typeface="Inter Bold" pitchFamily="34" charset="-120"/>
              </a:rPr>
              <a:t>DATA DESCRIPTION</a:t>
            </a:r>
            <a:endParaRPr lang="en-US" sz="1850" dirty="0"/>
          </a:p>
        </p:txBody>
      </p:sp>
      <p:sp>
        <p:nvSpPr>
          <p:cNvPr id="5" name="Text 3"/>
          <p:cNvSpPr/>
          <p:nvPr/>
        </p:nvSpPr>
        <p:spPr>
          <a:xfrm>
            <a:off x="356682" y="1048246"/>
            <a:ext cx="11478330" cy="113407"/>
          </a:xfrm>
          <a:prstGeom prst="rect">
            <a:avLst/>
          </a:prstGeom>
          <a:noFill/>
          <a:ln/>
        </p:spPr>
        <p:txBody>
          <a:bodyPr wrap="none" lIns="0" tIns="0" rIns="0" bIns="0" rtlCol="0" anchor="t"/>
          <a:lstStyle/>
          <a:p>
            <a:pPr algn="ctr" indent="0" marL="0">
              <a:lnSpc>
                <a:spcPct val="100000"/>
              </a:lnSpc>
              <a:buNone/>
            </a:pPr>
            <a:r>
              <a:rPr lang="en-US" sz="700" dirty="0">
                <a:solidFill>
                  <a:srgbClr val="272525"/>
                </a:solidFill>
                <a:latin typeface="Inter" pitchFamily="34" charset="0"/>
                <a:ea typeface="Inter" pitchFamily="34" charset="-122"/>
                <a:cs typeface="Inter" pitchFamily="34" charset="-120"/>
              </a:rPr>
              <a:t>Captures detailed information on professional career paths and skill sets</a:t>
            </a:r>
            <a:endParaRPr lang="en-US" sz="700" dirty="0"/>
          </a:p>
        </p:txBody>
      </p:sp>
      <p:sp>
        <p:nvSpPr>
          <p:cNvPr id="6" name="Shape 4"/>
          <p:cNvSpPr/>
          <p:nvPr/>
        </p:nvSpPr>
        <p:spPr>
          <a:xfrm>
            <a:off x="661475" y="1238349"/>
            <a:ext cx="10868745" cy="12700"/>
          </a:xfrm>
          <a:prstGeom prst="roundRect">
            <a:avLst>
              <a:gd name="adj" fmla="val 59999"/>
            </a:avLst>
          </a:prstGeom>
          <a:solidFill>
            <a:srgbClr val="272525">
              <a:alpha val="50000"/>
            </a:srgbClr>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327745"/>
            <a:ext cx="189007" cy="189012"/>
          </a:xfrm>
          <a:prstGeom prst="rect">
            <a:avLst/>
          </a:prstGeom>
        </p:spPr>
      </p:pic>
      <p:sp>
        <p:nvSpPr>
          <p:cNvPr id="8" name="Text 5"/>
          <p:cNvSpPr/>
          <p:nvPr/>
        </p:nvSpPr>
        <p:spPr>
          <a:xfrm>
            <a:off x="661475" y="1575792"/>
            <a:ext cx="5404806" cy="147638"/>
          </a:xfrm>
          <a:prstGeom prst="rect">
            <a:avLst/>
          </a:prstGeom>
          <a:noFill/>
          <a:ln/>
        </p:spPr>
        <p:txBody>
          <a:bodyPr wrap="none" lIns="0" tIns="0" rIns="0" bIns="0" rtlCol="0" anchor="t"/>
          <a:lstStyle/>
          <a:p>
            <a:pPr algn="l" indent="0" marL="0">
              <a:lnSpc>
                <a:spcPct val="104000"/>
              </a:lnSpc>
              <a:buNone/>
            </a:pPr>
            <a:r>
              <a:rPr lang="en-US" sz="900" b="1" dirty="0">
                <a:solidFill>
                  <a:srgbClr val="272525"/>
                </a:solidFill>
                <a:latin typeface="Inter Bold" pitchFamily="34" charset="0"/>
                <a:ea typeface="Inter Bold" pitchFamily="34" charset="-122"/>
                <a:cs typeface="Inter Bold" pitchFamily="34" charset="-120"/>
              </a:rPr>
              <a:t>Data Source</a:t>
            </a:r>
            <a:endParaRPr lang="en-US" sz="900" dirty="0"/>
          </a:p>
        </p:txBody>
      </p:sp>
      <p:sp>
        <p:nvSpPr>
          <p:cNvPr id="9" name="Text 6"/>
          <p:cNvSpPr/>
          <p:nvPr/>
        </p:nvSpPr>
        <p:spPr>
          <a:xfrm>
            <a:off x="661475" y="1751707"/>
            <a:ext cx="5404806" cy="113407"/>
          </a:xfrm>
          <a:prstGeom prst="rect">
            <a:avLst/>
          </a:prstGeom>
          <a:noFill/>
          <a:ln/>
        </p:spPr>
        <p:txBody>
          <a:bodyPr wrap="none" lIns="0" tIns="0" rIns="0" bIns="0" rtlCol="0" anchor="t"/>
          <a:lstStyle/>
          <a:p>
            <a:pPr algn="l" indent="0" marL="0">
              <a:lnSpc>
                <a:spcPct val="100000"/>
              </a:lnSpc>
              <a:buNone/>
            </a:pPr>
            <a:r>
              <a:rPr lang="en-US" sz="700" dirty="0">
                <a:solidFill>
                  <a:srgbClr val="272525"/>
                </a:solidFill>
                <a:latin typeface="Inter" pitchFamily="34" charset="0"/>
                <a:ea typeface="Inter" pitchFamily="34" charset="-122"/>
                <a:cs typeface="Inter" pitchFamily="34" charset="-120"/>
              </a:rPr>
              <a:t>Kaggle - LinkedIn Profiles</a:t>
            </a:r>
            <a:endParaRPr lang="en-US" sz="7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25315" y="1327745"/>
            <a:ext cx="189007" cy="189012"/>
          </a:xfrm>
          <a:prstGeom prst="rect">
            <a:avLst/>
          </a:prstGeom>
        </p:spPr>
      </p:pic>
      <p:sp>
        <p:nvSpPr>
          <p:cNvPr id="11" name="Text 7"/>
          <p:cNvSpPr/>
          <p:nvPr/>
        </p:nvSpPr>
        <p:spPr>
          <a:xfrm>
            <a:off x="6125315" y="1575792"/>
            <a:ext cx="5404905" cy="147638"/>
          </a:xfrm>
          <a:prstGeom prst="rect">
            <a:avLst/>
          </a:prstGeom>
          <a:noFill/>
          <a:ln/>
        </p:spPr>
        <p:txBody>
          <a:bodyPr wrap="none" lIns="0" tIns="0" rIns="0" bIns="0" rtlCol="0" anchor="t"/>
          <a:lstStyle/>
          <a:p>
            <a:pPr algn="l" indent="0" marL="0">
              <a:lnSpc>
                <a:spcPct val="104000"/>
              </a:lnSpc>
              <a:buNone/>
            </a:pPr>
            <a:r>
              <a:rPr lang="en-US" sz="900" b="1" dirty="0">
                <a:solidFill>
                  <a:srgbClr val="272525"/>
                </a:solidFill>
                <a:latin typeface="Inter Bold" pitchFamily="34" charset="0"/>
                <a:ea typeface="Inter Bold" pitchFamily="34" charset="-122"/>
                <a:cs typeface="Inter Bold" pitchFamily="34" charset="-120"/>
              </a:rPr>
              <a:t>Dataset Name</a:t>
            </a:r>
            <a:endParaRPr lang="en-US" sz="900" dirty="0"/>
          </a:p>
        </p:txBody>
      </p:sp>
      <p:sp>
        <p:nvSpPr>
          <p:cNvPr id="12" name="Text 8"/>
          <p:cNvSpPr/>
          <p:nvPr/>
        </p:nvSpPr>
        <p:spPr>
          <a:xfrm>
            <a:off x="6125315" y="1751707"/>
            <a:ext cx="5404905" cy="113407"/>
          </a:xfrm>
          <a:prstGeom prst="rect">
            <a:avLst/>
          </a:prstGeom>
          <a:noFill/>
          <a:ln/>
        </p:spPr>
        <p:txBody>
          <a:bodyPr wrap="none" lIns="0" tIns="0" rIns="0" bIns="0" rtlCol="0" anchor="t"/>
          <a:lstStyle/>
          <a:p>
            <a:pPr algn="l" indent="0" marL="0">
              <a:lnSpc>
                <a:spcPct val="100000"/>
              </a:lnSpc>
              <a:buNone/>
            </a:pPr>
            <a:r>
              <a:rPr lang="en-US" sz="700" dirty="0">
                <a:solidFill>
                  <a:srgbClr val="272525"/>
                </a:solidFill>
                <a:latin typeface="Inter" pitchFamily="34" charset="0"/>
                <a:ea typeface="Inter" pitchFamily="34" charset="-122"/>
                <a:cs typeface="Inter" pitchFamily="34" charset="-120"/>
              </a:rPr>
              <a:t>linkedin.csv</a:t>
            </a:r>
            <a:endParaRPr lang="en-US" sz="7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1959570"/>
            <a:ext cx="189007" cy="189012"/>
          </a:xfrm>
          <a:prstGeom prst="rect">
            <a:avLst/>
          </a:prstGeom>
        </p:spPr>
      </p:pic>
      <p:sp>
        <p:nvSpPr>
          <p:cNvPr id="14" name="Text 9"/>
          <p:cNvSpPr/>
          <p:nvPr/>
        </p:nvSpPr>
        <p:spPr>
          <a:xfrm>
            <a:off x="661475" y="2207617"/>
            <a:ext cx="5404806" cy="147638"/>
          </a:xfrm>
          <a:prstGeom prst="rect">
            <a:avLst/>
          </a:prstGeom>
          <a:noFill/>
          <a:ln/>
        </p:spPr>
        <p:txBody>
          <a:bodyPr wrap="none" lIns="0" tIns="0" rIns="0" bIns="0" rtlCol="0" anchor="t"/>
          <a:lstStyle/>
          <a:p>
            <a:pPr algn="l" indent="0" marL="0">
              <a:lnSpc>
                <a:spcPct val="104000"/>
              </a:lnSpc>
              <a:buNone/>
            </a:pPr>
            <a:r>
              <a:rPr lang="en-US" sz="900" b="1" dirty="0">
                <a:solidFill>
                  <a:srgbClr val="272525"/>
                </a:solidFill>
                <a:latin typeface="Inter Bold" pitchFamily="34" charset="0"/>
                <a:ea typeface="Inter Bold" pitchFamily="34" charset="-122"/>
                <a:cs typeface="Inter Bold" pitchFamily="34" charset="-120"/>
              </a:rPr>
              <a:t>Observations</a:t>
            </a:r>
            <a:endParaRPr lang="en-US" sz="900" dirty="0"/>
          </a:p>
        </p:txBody>
      </p:sp>
      <p:sp>
        <p:nvSpPr>
          <p:cNvPr id="15" name="Text 10"/>
          <p:cNvSpPr/>
          <p:nvPr/>
        </p:nvSpPr>
        <p:spPr>
          <a:xfrm>
            <a:off x="661475" y="2383532"/>
            <a:ext cx="5404806" cy="113407"/>
          </a:xfrm>
          <a:prstGeom prst="rect">
            <a:avLst/>
          </a:prstGeom>
          <a:noFill/>
          <a:ln/>
        </p:spPr>
        <p:txBody>
          <a:bodyPr wrap="none" lIns="0" tIns="0" rIns="0" bIns="0" rtlCol="0" anchor="t"/>
          <a:lstStyle/>
          <a:p>
            <a:pPr algn="l" indent="0" marL="0">
              <a:lnSpc>
                <a:spcPct val="100000"/>
              </a:lnSpc>
              <a:buNone/>
            </a:pPr>
            <a:r>
              <a:rPr lang="en-US" sz="700" b="1" dirty="0">
                <a:solidFill>
                  <a:srgbClr val="272525"/>
                </a:solidFill>
                <a:latin typeface="Inter Bold" pitchFamily="34" charset="0"/>
                <a:ea typeface="Inter Bold" pitchFamily="34" charset="-122"/>
                <a:cs typeface="Inter Bold" pitchFamily="34" charset="-120"/>
              </a:rPr>
              <a:t>1,251</a:t>
            </a:r>
            <a:endParaRPr lang="en-US" sz="7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25315" y="1959570"/>
            <a:ext cx="189007" cy="189012"/>
          </a:xfrm>
          <a:prstGeom prst="rect">
            <a:avLst/>
          </a:prstGeom>
        </p:spPr>
      </p:pic>
      <p:sp>
        <p:nvSpPr>
          <p:cNvPr id="17" name="Text 11"/>
          <p:cNvSpPr/>
          <p:nvPr/>
        </p:nvSpPr>
        <p:spPr>
          <a:xfrm>
            <a:off x="6125315" y="2207617"/>
            <a:ext cx="5404905" cy="147638"/>
          </a:xfrm>
          <a:prstGeom prst="rect">
            <a:avLst/>
          </a:prstGeom>
          <a:noFill/>
          <a:ln/>
        </p:spPr>
        <p:txBody>
          <a:bodyPr wrap="none" lIns="0" tIns="0" rIns="0" bIns="0" rtlCol="0" anchor="t"/>
          <a:lstStyle/>
          <a:p>
            <a:pPr algn="l" indent="0" marL="0">
              <a:lnSpc>
                <a:spcPct val="104000"/>
              </a:lnSpc>
              <a:buNone/>
            </a:pPr>
            <a:r>
              <a:rPr lang="en-US" sz="900" b="1" dirty="0">
                <a:solidFill>
                  <a:srgbClr val="272525"/>
                </a:solidFill>
                <a:latin typeface="Inter Bold" pitchFamily="34" charset="0"/>
                <a:ea typeface="Inter Bold" pitchFamily="34" charset="-122"/>
                <a:cs typeface="Inter Bold" pitchFamily="34" charset="-120"/>
              </a:rPr>
              <a:t>Attributes</a:t>
            </a:r>
            <a:endParaRPr lang="en-US" sz="900" dirty="0"/>
          </a:p>
        </p:txBody>
      </p:sp>
      <p:sp>
        <p:nvSpPr>
          <p:cNvPr id="18" name="Text 12"/>
          <p:cNvSpPr/>
          <p:nvPr/>
        </p:nvSpPr>
        <p:spPr>
          <a:xfrm>
            <a:off x="6125315" y="2383532"/>
            <a:ext cx="5404905" cy="113407"/>
          </a:xfrm>
          <a:prstGeom prst="rect">
            <a:avLst/>
          </a:prstGeom>
          <a:noFill/>
          <a:ln/>
        </p:spPr>
        <p:txBody>
          <a:bodyPr wrap="none" lIns="0" tIns="0" rIns="0" bIns="0" rtlCol="0" anchor="t"/>
          <a:lstStyle/>
          <a:p>
            <a:pPr algn="l" indent="0" marL="0">
              <a:lnSpc>
                <a:spcPct val="100000"/>
              </a:lnSpc>
              <a:buNone/>
            </a:pPr>
            <a:r>
              <a:rPr lang="en-US" sz="700" b="1" dirty="0">
                <a:solidFill>
                  <a:srgbClr val="272525"/>
                </a:solidFill>
                <a:latin typeface="Inter Bold" pitchFamily="34" charset="0"/>
                <a:ea typeface="Inter Bold" pitchFamily="34" charset="-122"/>
                <a:cs typeface="Inter Bold" pitchFamily="34" charset="-120"/>
              </a:rPr>
              <a:t>11</a:t>
            </a:r>
            <a:endParaRPr lang="en-US" sz="700" dirty="0"/>
          </a:p>
        </p:txBody>
      </p:sp>
      <p:sp>
        <p:nvSpPr>
          <p:cNvPr id="19" name="Shape 13"/>
          <p:cNvSpPr/>
          <p:nvPr/>
        </p:nvSpPr>
        <p:spPr>
          <a:xfrm>
            <a:off x="661475" y="2573635"/>
            <a:ext cx="10868745" cy="12700"/>
          </a:xfrm>
          <a:prstGeom prst="roundRect">
            <a:avLst>
              <a:gd name="adj" fmla="val 59999"/>
            </a:avLst>
          </a:prstGeom>
          <a:solidFill>
            <a:srgbClr val="272525">
              <a:alpha val="50000"/>
            </a:srgbClr>
          </a:solidFill>
          <a:ln/>
        </p:spPr>
      </p:sp>
      <p:sp>
        <p:nvSpPr>
          <p:cNvPr id="20" name="Text 14"/>
          <p:cNvSpPr/>
          <p:nvPr/>
        </p:nvSpPr>
        <p:spPr>
          <a:xfrm>
            <a:off x="661475" y="2680791"/>
            <a:ext cx="10868745" cy="147638"/>
          </a:xfrm>
          <a:prstGeom prst="rect">
            <a:avLst/>
          </a:prstGeom>
          <a:noFill/>
          <a:ln/>
        </p:spPr>
        <p:txBody>
          <a:bodyPr wrap="none" lIns="0" tIns="0" rIns="0" bIns="0" rtlCol="0" anchor="t"/>
          <a:lstStyle/>
          <a:p>
            <a:pPr algn="l" indent="0" marL="0">
              <a:lnSpc>
                <a:spcPct val="104000"/>
              </a:lnSpc>
              <a:buNone/>
            </a:pPr>
            <a:r>
              <a:rPr lang="en-US" sz="900" b="1" dirty="0">
                <a:solidFill>
                  <a:srgbClr val="000000"/>
                </a:solidFill>
                <a:latin typeface="Inter Bold" pitchFamily="34" charset="0"/>
                <a:ea typeface="Inter Bold" pitchFamily="34" charset="-122"/>
                <a:cs typeface="Inter Bold" pitchFamily="34" charset="-120"/>
              </a:rPr>
              <a:t>Key Variables Used</a:t>
            </a:r>
            <a:endParaRPr lang="en-US" sz="900" dirty="0"/>
          </a:p>
        </p:txBody>
      </p:sp>
      <p:pic>
        <p:nvPicPr>
          <p:cNvPr id="2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2899271"/>
            <a:ext cx="3591430" cy="774402"/>
          </a:xfrm>
          <a:prstGeom prst="rect">
            <a:avLst/>
          </a:prstGeom>
        </p:spPr>
      </p:pic>
      <p:pic>
        <p:nvPicPr>
          <p:cNvPr id="2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400488" y="2984202"/>
            <a:ext cx="113404" cy="113407"/>
          </a:xfrm>
          <a:prstGeom prst="rect">
            <a:avLst/>
          </a:prstGeom>
        </p:spPr>
      </p:pic>
      <p:sp>
        <p:nvSpPr>
          <p:cNvPr id="23" name="Text 15"/>
          <p:cNvSpPr/>
          <p:nvPr/>
        </p:nvSpPr>
        <p:spPr>
          <a:xfrm>
            <a:off x="768628" y="3277195"/>
            <a:ext cx="3377123" cy="147638"/>
          </a:xfrm>
          <a:prstGeom prst="rect">
            <a:avLst/>
          </a:prstGeom>
          <a:noFill/>
          <a:ln/>
        </p:spPr>
        <p:txBody>
          <a:bodyPr wrap="none" lIns="0" tIns="0" rIns="0" bIns="0" rtlCol="0" anchor="t"/>
          <a:lstStyle/>
          <a:p>
            <a:pPr algn="l" indent="0" marL="0">
              <a:lnSpc>
                <a:spcPct val="104000"/>
              </a:lnSpc>
              <a:buNone/>
            </a:pPr>
            <a:r>
              <a:rPr lang="en-US" sz="900" b="1" dirty="0">
                <a:solidFill>
                  <a:srgbClr val="272525"/>
                </a:solidFill>
                <a:latin typeface="Inter Bold" pitchFamily="34" charset="0"/>
                <a:ea typeface="Inter Bold" pitchFamily="34" charset="-122"/>
                <a:cs typeface="Inter Bold" pitchFamily="34" charset="-120"/>
              </a:rPr>
              <a:t>Career Category</a:t>
            </a:r>
            <a:endParaRPr lang="en-US" sz="900" dirty="0"/>
          </a:p>
        </p:txBody>
      </p:sp>
      <p:sp>
        <p:nvSpPr>
          <p:cNvPr id="24" name="Text 16"/>
          <p:cNvSpPr/>
          <p:nvPr/>
        </p:nvSpPr>
        <p:spPr>
          <a:xfrm>
            <a:off x="768628" y="3453110"/>
            <a:ext cx="3377123" cy="113407"/>
          </a:xfrm>
          <a:prstGeom prst="rect">
            <a:avLst/>
          </a:prstGeom>
          <a:noFill/>
          <a:ln/>
        </p:spPr>
        <p:txBody>
          <a:bodyPr wrap="none" lIns="0" tIns="0" rIns="0" bIns="0" rtlCol="0" anchor="t"/>
          <a:lstStyle/>
          <a:p>
            <a:pPr algn="l" indent="0" marL="0">
              <a:lnSpc>
                <a:spcPct val="100000"/>
              </a:lnSpc>
              <a:buNone/>
            </a:pPr>
            <a:r>
              <a:rPr lang="en-US" sz="700" dirty="0">
                <a:solidFill>
                  <a:srgbClr val="272525"/>
                </a:solidFill>
                <a:latin typeface="Inter" pitchFamily="34" charset="0"/>
                <a:ea typeface="Inter" pitchFamily="34" charset="-122"/>
                <a:cs typeface="Inter" pitchFamily="34" charset="-120"/>
              </a:rPr>
              <a:t>Primary profession group or domain</a:t>
            </a:r>
            <a:endParaRPr lang="en-US" sz="700" dirty="0"/>
          </a:p>
        </p:txBody>
      </p:sp>
      <p:pic>
        <p:nvPicPr>
          <p:cNvPr id="25"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300132" y="2899271"/>
            <a:ext cx="3591430" cy="774402"/>
          </a:xfrm>
          <a:prstGeom prst="rect">
            <a:avLst/>
          </a:prstGeom>
        </p:spPr>
      </p:pic>
      <p:pic>
        <p:nvPicPr>
          <p:cNvPr id="26"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039145" y="2984202"/>
            <a:ext cx="113404" cy="113407"/>
          </a:xfrm>
          <a:prstGeom prst="rect">
            <a:avLst/>
          </a:prstGeom>
        </p:spPr>
      </p:pic>
      <p:sp>
        <p:nvSpPr>
          <p:cNvPr id="27" name="Text 17"/>
          <p:cNvSpPr/>
          <p:nvPr/>
        </p:nvSpPr>
        <p:spPr>
          <a:xfrm>
            <a:off x="4407286" y="3277195"/>
            <a:ext cx="3377123" cy="147638"/>
          </a:xfrm>
          <a:prstGeom prst="rect">
            <a:avLst/>
          </a:prstGeom>
          <a:noFill/>
          <a:ln/>
        </p:spPr>
        <p:txBody>
          <a:bodyPr wrap="none" lIns="0" tIns="0" rIns="0" bIns="0" rtlCol="0" anchor="t"/>
          <a:lstStyle/>
          <a:p>
            <a:pPr algn="l" indent="0" marL="0">
              <a:lnSpc>
                <a:spcPct val="104000"/>
              </a:lnSpc>
              <a:buNone/>
            </a:pPr>
            <a:r>
              <a:rPr lang="en-US" sz="900" b="1" dirty="0">
                <a:solidFill>
                  <a:srgbClr val="272525"/>
                </a:solidFill>
                <a:latin typeface="Inter Bold" pitchFamily="34" charset="0"/>
                <a:ea typeface="Inter Bold" pitchFamily="34" charset="-122"/>
                <a:cs typeface="Inter Bold" pitchFamily="34" charset="-120"/>
              </a:rPr>
              <a:t>Years of Experience</a:t>
            </a:r>
            <a:endParaRPr lang="en-US" sz="900" dirty="0"/>
          </a:p>
        </p:txBody>
      </p:sp>
      <p:sp>
        <p:nvSpPr>
          <p:cNvPr id="28" name="Text 18"/>
          <p:cNvSpPr/>
          <p:nvPr/>
        </p:nvSpPr>
        <p:spPr>
          <a:xfrm>
            <a:off x="4407286" y="3453110"/>
            <a:ext cx="3377123" cy="113407"/>
          </a:xfrm>
          <a:prstGeom prst="rect">
            <a:avLst/>
          </a:prstGeom>
          <a:noFill/>
          <a:ln/>
        </p:spPr>
        <p:txBody>
          <a:bodyPr wrap="none" lIns="0" tIns="0" rIns="0" bIns="0" rtlCol="0" anchor="t"/>
          <a:lstStyle/>
          <a:p>
            <a:pPr algn="l" indent="0" marL="0">
              <a:lnSpc>
                <a:spcPct val="100000"/>
              </a:lnSpc>
              <a:buNone/>
            </a:pPr>
            <a:r>
              <a:rPr lang="en-US" sz="700" dirty="0">
                <a:solidFill>
                  <a:srgbClr val="272525"/>
                </a:solidFill>
                <a:latin typeface="Inter" pitchFamily="34" charset="0"/>
                <a:ea typeface="Inter" pitchFamily="34" charset="-122"/>
                <a:cs typeface="Inter" pitchFamily="34" charset="-120"/>
              </a:rPr>
              <a:t>Total professional experience</a:t>
            </a:r>
            <a:endParaRPr lang="en-US" sz="700" dirty="0"/>
          </a:p>
        </p:txBody>
      </p:sp>
      <p:pic>
        <p:nvPicPr>
          <p:cNvPr id="29"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938790" y="2899271"/>
            <a:ext cx="3591430" cy="774402"/>
          </a:xfrm>
          <a:prstGeom prst="rect">
            <a:avLst/>
          </a:prstGeom>
        </p:spPr>
      </p:pic>
      <p:pic>
        <p:nvPicPr>
          <p:cNvPr id="30"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677803" y="2984202"/>
            <a:ext cx="113404" cy="113407"/>
          </a:xfrm>
          <a:prstGeom prst="rect">
            <a:avLst/>
          </a:prstGeom>
        </p:spPr>
      </p:pic>
      <p:sp>
        <p:nvSpPr>
          <p:cNvPr id="31" name="Text 19"/>
          <p:cNvSpPr/>
          <p:nvPr/>
        </p:nvSpPr>
        <p:spPr>
          <a:xfrm>
            <a:off x="8045943" y="3277195"/>
            <a:ext cx="3377123" cy="147638"/>
          </a:xfrm>
          <a:prstGeom prst="rect">
            <a:avLst/>
          </a:prstGeom>
          <a:noFill/>
          <a:ln/>
        </p:spPr>
        <p:txBody>
          <a:bodyPr wrap="none" lIns="0" tIns="0" rIns="0" bIns="0" rtlCol="0" anchor="t"/>
          <a:lstStyle/>
          <a:p>
            <a:pPr algn="l" indent="0" marL="0">
              <a:lnSpc>
                <a:spcPct val="104000"/>
              </a:lnSpc>
              <a:buNone/>
            </a:pPr>
            <a:r>
              <a:rPr lang="en-US" sz="900" b="1" dirty="0">
                <a:solidFill>
                  <a:srgbClr val="272525"/>
                </a:solidFill>
                <a:latin typeface="Inter Bold" pitchFamily="34" charset="0"/>
                <a:ea typeface="Inter Bold" pitchFamily="34" charset="-122"/>
                <a:cs typeface="Inter Bold" pitchFamily="34" charset="-120"/>
              </a:rPr>
              <a:t>Job Position</a:t>
            </a:r>
            <a:endParaRPr lang="en-US" sz="900" dirty="0"/>
          </a:p>
        </p:txBody>
      </p:sp>
      <p:sp>
        <p:nvSpPr>
          <p:cNvPr id="32" name="Text 20"/>
          <p:cNvSpPr/>
          <p:nvPr/>
        </p:nvSpPr>
        <p:spPr>
          <a:xfrm>
            <a:off x="8045943" y="3453110"/>
            <a:ext cx="3377123" cy="113407"/>
          </a:xfrm>
          <a:prstGeom prst="rect">
            <a:avLst/>
          </a:prstGeom>
          <a:noFill/>
          <a:ln/>
        </p:spPr>
        <p:txBody>
          <a:bodyPr wrap="none" lIns="0" tIns="0" rIns="0" bIns="0" rtlCol="0" anchor="t"/>
          <a:lstStyle/>
          <a:p>
            <a:pPr algn="l" indent="0" marL="0">
              <a:lnSpc>
                <a:spcPct val="100000"/>
              </a:lnSpc>
              <a:buNone/>
            </a:pPr>
            <a:r>
              <a:rPr lang="en-US" sz="700" dirty="0">
                <a:solidFill>
                  <a:srgbClr val="272525"/>
                </a:solidFill>
                <a:latin typeface="Inter" pitchFamily="34" charset="0"/>
                <a:ea typeface="Inter" pitchFamily="34" charset="-122"/>
                <a:cs typeface="Inter" pitchFamily="34" charset="-120"/>
              </a:rPr>
              <a:t>Current role or title</a:t>
            </a:r>
            <a:endParaRPr lang="en-US" sz="700" dirty="0"/>
          </a:p>
        </p:txBody>
      </p:sp>
      <p:pic>
        <p:nvPicPr>
          <p:cNvPr id="33"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61475" y="3720902"/>
            <a:ext cx="3591430" cy="774402"/>
          </a:xfrm>
          <a:prstGeom prst="rect">
            <a:avLst/>
          </a:prstGeom>
        </p:spPr>
      </p:pic>
      <p:pic>
        <p:nvPicPr>
          <p:cNvPr id="34"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400488" y="3805833"/>
            <a:ext cx="113404" cy="113407"/>
          </a:xfrm>
          <a:prstGeom prst="rect">
            <a:avLst/>
          </a:prstGeom>
        </p:spPr>
      </p:pic>
      <p:sp>
        <p:nvSpPr>
          <p:cNvPr id="35" name="Text 21"/>
          <p:cNvSpPr/>
          <p:nvPr/>
        </p:nvSpPr>
        <p:spPr>
          <a:xfrm>
            <a:off x="768628" y="4098826"/>
            <a:ext cx="3377123" cy="147638"/>
          </a:xfrm>
          <a:prstGeom prst="rect">
            <a:avLst/>
          </a:prstGeom>
          <a:noFill/>
          <a:ln/>
        </p:spPr>
        <p:txBody>
          <a:bodyPr wrap="none" lIns="0" tIns="0" rIns="0" bIns="0" rtlCol="0" anchor="t"/>
          <a:lstStyle/>
          <a:p>
            <a:pPr algn="l" indent="0" marL="0">
              <a:lnSpc>
                <a:spcPct val="104000"/>
              </a:lnSpc>
              <a:buNone/>
            </a:pPr>
            <a:r>
              <a:rPr lang="en-US" sz="900" b="1" dirty="0">
                <a:solidFill>
                  <a:srgbClr val="272525"/>
                </a:solidFill>
                <a:latin typeface="Inter Bold" pitchFamily="34" charset="0"/>
                <a:ea typeface="Inter Bold" pitchFamily="34" charset="-122"/>
                <a:cs typeface="Inter Bold" pitchFamily="34" charset="-120"/>
              </a:rPr>
              <a:t>Skills</a:t>
            </a:r>
            <a:endParaRPr lang="en-US" sz="900" dirty="0"/>
          </a:p>
        </p:txBody>
      </p:sp>
      <p:sp>
        <p:nvSpPr>
          <p:cNvPr id="36" name="Text 22"/>
          <p:cNvSpPr/>
          <p:nvPr/>
        </p:nvSpPr>
        <p:spPr>
          <a:xfrm>
            <a:off x="768628" y="4274741"/>
            <a:ext cx="3377123" cy="113407"/>
          </a:xfrm>
          <a:prstGeom prst="rect">
            <a:avLst/>
          </a:prstGeom>
          <a:noFill/>
          <a:ln/>
        </p:spPr>
        <p:txBody>
          <a:bodyPr wrap="none" lIns="0" tIns="0" rIns="0" bIns="0" rtlCol="0" anchor="t"/>
          <a:lstStyle/>
          <a:p>
            <a:pPr algn="l" indent="0" marL="0">
              <a:lnSpc>
                <a:spcPct val="100000"/>
              </a:lnSpc>
              <a:buNone/>
            </a:pPr>
            <a:r>
              <a:rPr lang="en-US" sz="700" dirty="0">
                <a:solidFill>
                  <a:srgbClr val="272525"/>
                </a:solidFill>
                <a:latin typeface="Inter" pitchFamily="34" charset="0"/>
                <a:ea typeface="Inter" pitchFamily="34" charset="-122"/>
                <a:cs typeface="Inter" pitchFamily="34" charset="-120"/>
              </a:rPr>
              <a:t>Core technical and soft skills</a:t>
            </a:r>
            <a:endParaRPr lang="en-US" sz="700" dirty="0"/>
          </a:p>
        </p:txBody>
      </p:sp>
      <p:pic>
        <p:nvPicPr>
          <p:cNvPr id="37" name="Image 12" descr="preencoded.png">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4300132" y="3720902"/>
            <a:ext cx="3591430" cy="774402"/>
          </a:xfrm>
          <a:prstGeom prst="rect">
            <a:avLst/>
          </a:prstGeom>
        </p:spPr>
      </p:pic>
      <p:pic>
        <p:nvPicPr>
          <p:cNvPr id="38" name="Image 13" descr="preencoded.png">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6039145" y="3805833"/>
            <a:ext cx="113404" cy="113407"/>
          </a:xfrm>
          <a:prstGeom prst="rect">
            <a:avLst/>
          </a:prstGeom>
        </p:spPr>
      </p:pic>
      <p:sp>
        <p:nvSpPr>
          <p:cNvPr id="39" name="Text 23"/>
          <p:cNvSpPr/>
          <p:nvPr/>
        </p:nvSpPr>
        <p:spPr>
          <a:xfrm>
            <a:off x="4407286" y="4098826"/>
            <a:ext cx="3377123" cy="147638"/>
          </a:xfrm>
          <a:prstGeom prst="rect">
            <a:avLst/>
          </a:prstGeom>
          <a:noFill/>
          <a:ln/>
        </p:spPr>
        <p:txBody>
          <a:bodyPr wrap="none" lIns="0" tIns="0" rIns="0" bIns="0" rtlCol="0" anchor="t"/>
          <a:lstStyle/>
          <a:p>
            <a:pPr algn="l" indent="0" marL="0">
              <a:lnSpc>
                <a:spcPct val="104000"/>
              </a:lnSpc>
              <a:buNone/>
            </a:pPr>
            <a:r>
              <a:rPr lang="en-US" sz="900" b="1" dirty="0">
                <a:solidFill>
                  <a:srgbClr val="272525"/>
                </a:solidFill>
                <a:latin typeface="Inter Bold" pitchFamily="34" charset="0"/>
                <a:ea typeface="Inter Bold" pitchFamily="34" charset="-122"/>
                <a:cs typeface="Inter Bold" pitchFamily="34" charset="-120"/>
              </a:rPr>
              <a:t>Salary</a:t>
            </a:r>
            <a:endParaRPr lang="en-US" sz="900" dirty="0"/>
          </a:p>
        </p:txBody>
      </p:sp>
      <p:sp>
        <p:nvSpPr>
          <p:cNvPr id="40" name="Text 24"/>
          <p:cNvSpPr/>
          <p:nvPr/>
        </p:nvSpPr>
        <p:spPr>
          <a:xfrm>
            <a:off x="4407286" y="4274741"/>
            <a:ext cx="3377123" cy="113407"/>
          </a:xfrm>
          <a:prstGeom prst="rect">
            <a:avLst/>
          </a:prstGeom>
          <a:noFill/>
          <a:ln/>
        </p:spPr>
        <p:txBody>
          <a:bodyPr wrap="none" lIns="0" tIns="0" rIns="0" bIns="0" rtlCol="0" anchor="t"/>
          <a:lstStyle/>
          <a:p>
            <a:pPr algn="l" indent="0" marL="0">
              <a:lnSpc>
                <a:spcPct val="100000"/>
              </a:lnSpc>
              <a:buNone/>
            </a:pPr>
            <a:r>
              <a:rPr lang="en-US" sz="700" dirty="0">
                <a:solidFill>
                  <a:srgbClr val="272525"/>
                </a:solidFill>
                <a:latin typeface="Inter" pitchFamily="34" charset="0"/>
                <a:ea typeface="Inter" pitchFamily="34" charset="-122"/>
                <a:cs typeface="Inter" pitchFamily="34" charset="-120"/>
              </a:rPr>
              <a:t>Reported compensation level</a:t>
            </a:r>
            <a:endParaRPr lang="en-US" sz="700" dirty="0"/>
          </a:p>
        </p:txBody>
      </p:sp>
      <p:pic>
        <p:nvPicPr>
          <p:cNvPr id="41" name="Image 14" descr="preencoded.png">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7938790" y="3720902"/>
            <a:ext cx="3591430" cy="774402"/>
          </a:xfrm>
          <a:prstGeom prst="rect">
            <a:avLst/>
          </a:prstGeom>
        </p:spPr>
      </p:pic>
      <p:pic>
        <p:nvPicPr>
          <p:cNvPr id="42" name="Image 15" descr="preencoded.png">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9677803" y="3805833"/>
            <a:ext cx="113404" cy="113407"/>
          </a:xfrm>
          <a:prstGeom prst="rect">
            <a:avLst/>
          </a:prstGeom>
        </p:spPr>
      </p:pic>
      <p:sp>
        <p:nvSpPr>
          <p:cNvPr id="43" name="Text 25"/>
          <p:cNvSpPr/>
          <p:nvPr/>
        </p:nvSpPr>
        <p:spPr>
          <a:xfrm>
            <a:off x="8045943" y="4098826"/>
            <a:ext cx="3377123" cy="147638"/>
          </a:xfrm>
          <a:prstGeom prst="rect">
            <a:avLst/>
          </a:prstGeom>
          <a:noFill/>
          <a:ln/>
        </p:spPr>
        <p:txBody>
          <a:bodyPr wrap="none" lIns="0" tIns="0" rIns="0" bIns="0" rtlCol="0" anchor="t"/>
          <a:lstStyle/>
          <a:p>
            <a:pPr algn="l" indent="0" marL="0">
              <a:lnSpc>
                <a:spcPct val="104000"/>
              </a:lnSpc>
              <a:buNone/>
            </a:pPr>
            <a:r>
              <a:rPr lang="en-US" sz="900" b="1" dirty="0">
                <a:solidFill>
                  <a:srgbClr val="272525"/>
                </a:solidFill>
                <a:latin typeface="Inter Bold" pitchFamily="34" charset="0"/>
                <a:ea typeface="Inter Bold" pitchFamily="34" charset="-122"/>
                <a:cs typeface="Inter Bold" pitchFamily="34" charset="-120"/>
              </a:rPr>
              <a:t>Education Level</a:t>
            </a:r>
            <a:endParaRPr lang="en-US" sz="900" dirty="0"/>
          </a:p>
        </p:txBody>
      </p:sp>
      <p:sp>
        <p:nvSpPr>
          <p:cNvPr id="44" name="Text 26"/>
          <p:cNvSpPr/>
          <p:nvPr/>
        </p:nvSpPr>
        <p:spPr>
          <a:xfrm>
            <a:off x="8045943" y="4274741"/>
            <a:ext cx="3377123" cy="113407"/>
          </a:xfrm>
          <a:prstGeom prst="rect">
            <a:avLst/>
          </a:prstGeom>
          <a:noFill/>
          <a:ln/>
        </p:spPr>
        <p:txBody>
          <a:bodyPr wrap="none" lIns="0" tIns="0" rIns="0" bIns="0" rtlCol="0" anchor="t"/>
          <a:lstStyle/>
          <a:p>
            <a:pPr algn="l" indent="0" marL="0">
              <a:lnSpc>
                <a:spcPct val="100000"/>
              </a:lnSpc>
              <a:buNone/>
            </a:pPr>
            <a:r>
              <a:rPr lang="en-US" sz="700" dirty="0">
                <a:solidFill>
                  <a:srgbClr val="272525"/>
                </a:solidFill>
                <a:latin typeface="Inter" pitchFamily="34" charset="0"/>
                <a:ea typeface="Inter" pitchFamily="34" charset="-122"/>
                <a:cs typeface="Inter" pitchFamily="34" charset="-120"/>
              </a:rPr>
              <a:t>Highest degree or qualification</a:t>
            </a:r>
            <a:endParaRPr lang="en-US" sz="700" dirty="0"/>
          </a:p>
        </p:txBody>
      </p:sp>
      <p:pic>
        <p:nvPicPr>
          <p:cNvPr id="45" name="Image 16" descr="preencoded.png">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661475" y="4542532"/>
            <a:ext cx="3591430" cy="774402"/>
          </a:xfrm>
          <a:prstGeom prst="rect">
            <a:avLst/>
          </a:prstGeom>
        </p:spPr>
      </p:pic>
      <p:pic>
        <p:nvPicPr>
          <p:cNvPr id="46" name="Image 17" descr="preencoded.png">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2400488" y="4627463"/>
            <a:ext cx="113404" cy="113407"/>
          </a:xfrm>
          <a:prstGeom prst="rect">
            <a:avLst/>
          </a:prstGeom>
        </p:spPr>
      </p:pic>
      <p:sp>
        <p:nvSpPr>
          <p:cNvPr id="47" name="Text 27"/>
          <p:cNvSpPr/>
          <p:nvPr/>
        </p:nvSpPr>
        <p:spPr>
          <a:xfrm>
            <a:off x="768628" y="4920456"/>
            <a:ext cx="3377123" cy="147638"/>
          </a:xfrm>
          <a:prstGeom prst="rect">
            <a:avLst/>
          </a:prstGeom>
          <a:noFill/>
          <a:ln/>
        </p:spPr>
        <p:txBody>
          <a:bodyPr wrap="none" lIns="0" tIns="0" rIns="0" bIns="0" rtlCol="0" anchor="t"/>
          <a:lstStyle/>
          <a:p>
            <a:pPr algn="l" indent="0" marL="0">
              <a:lnSpc>
                <a:spcPct val="104000"/>
              </a:lnSpc>
              <a:buNone/>
            </a:pPr>
            <a:r>
              <a:rPr lang="en-US" sz="900" b="1" dirty="0">
                <a:solidFill>
                  <a:srgbClr val="272525"/>
                </a:solidFill>
                <a:latin typeface="Inter Bold" pitchFamily="34" charset="0"/>
                <a:ea typeface="Inter Bold" pitchFamily="34" charset="-122"/>
                <a:cs typeface="Inter Bold" pitchFamily="34" charset="-120"/>
              </a:rPr>
              <a:t>Location</a:t>
            </a:r>
            <a:endParaRPr lang="en-US" sz="900" dirty="0"/>
          </a:p>
        </p:txBody>
      </p:sp>
      <p:sp>
        <p:nvSpPr>
          <p:cNvPr id="48" name="Text 28"/>
          <p:cNvSpPr/>
          <p:nvPr/>
        </p:nvSpPr>
        <p:spPr>
          <a:xfrm>
            <a:off x="768628" y="5096371"/>
            <a:ext cx="3377123" cy="113407"/>
          </a:xfrm>
          <a:prstGeom prst="rect">
            <a:avLst/>
          </a:prstGeom>
          <a:noFill/>
          <a:ln/>
        </p:spPr>
        <p:txBody>
          <a:bodyPr wrap="none" lIns="0" tIns="0" rIns="0" bIns="0" rtlCol="0" anchor="t"/>
          <a:lstStyle/>
          <a:p>
            <a:pPr algn="l" indent="0" marL="0">
              <a:lnSpc>
                <a:spcPct val="100000"/>
              </a:lnSpc>
              <a:buNone/>
            </a:pPr>
            <a:r>
              <a:rPr lang="en-US" sz="700" dirty="0">
                <a:solidFill>
                  <a:srgbClr val="272525"/>
                </a:solidFill>
                <a:latin typeface="Inter" pitchFamily="34" charset="0"/>
                <a:ea typeface="Inter" pitchFamily="34" charset="-122"/>
                <a:cs typeface="Inter" pitchFamily="34" charset="-120"/>
              </a:rPr>
              <a:t>Geographic work location</a:t>
            </a:r>
            <a:endParaRPr lang="en-US" sz="700" dirty="0"/>
          </a:p>
        </p:txBody>
      </p:sp>
      <p:pic>
        <p:nvPicPr>
          <p:cNvPr id="49" name="Image 18" descr="preencoded.png">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4300132" y="4542532"/>
            <a:ext cx="3591430" cy="774402"/>
          </a:xfrm>
          <a:prstGeom prst="rect">
            <a:avLst/>
          </a:prstGeom>
        </p:spPr>
      </p:pic>
      <p:pic>
        <p:nvPicPr>
          <p:cNvPr id="50" name="Image 19" descr="preencoded.png">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6039145" y="4627463"/>
            <a:ext cx="113404" cy="113407"/>
          </a:xfrm>
          <a:prstGeom prst="rect">
            <a:avLst/>
          </a:prstGeom>
        </p:spPr>
      </p:pic>
      <p:sp>
        <p:nvSpPr>
          <p:cNvPr id="51" name="Text 29"/>
          <p:cNvSpPr/>
          <p:nvPr/>
        </p:nvSpPr>
        <p:spPr>
          <a:xfrm>
            <a:off x="4407286" y="4920456"/>
            <a:ext cx="3377123" cy="147638"/>
          </a:xfrm>
          <a:prstGeom prst="rect">
            <a:avLst/>
          </a:prstGeom>
          <a:noFill/>
          <a:ln/>
        </p:spPr>
        <p:txBody>
          <a:bodyPr wrap="none" lIns="0" tIns="0" rIns="0" bIns="0" rtlCol="0" anchor="t"/>
          <a:lstStyle/>
          <a:p>
            <a:pPr algn="l" indent="0" marL="0">
              <a:lnSpc>
                <a:spcPct val="104000"/>
              </a:lnSpc>
              <a:buNone/>
            </a:pPr>
            <a:r>
              <a:rPr lang="en-US" sz="900" b="1" dirty="0">
                <a:solidFill>
                  <a:srgbClr val="272525"/>
                </a:solidFill>
                <a:latin typeface="Inter Bold" pitchFamily="34" charset="0"/>
                <a:ea typeface="Inter Bold" pitchFamily="34" charset="-122"/>
                <a:cs typeface="Inter Bold" pitchFamily="34" charset="-120"/>
              </a:rPr>
              <a:t>Company Size</a:t>
            </a:r>
            <a:endParaRPr lang="en-US" sz="900" dirty="0"/>
          </a:p>
        </p:txBody>
      </p:sp>
      <p:sp>
        <p:nvSpPr>
          <p:cNvPr id="52" name="Text 30"/>
          <p:cNvSpPr/>
          <p:nvPr/>
        </p:nvSpPr>
        <p:spPr>
          <a:xfrm>
            <a:off x="4407286" y="5096371"/>
            <a:ext cx="3377123" cy="113407"/>
          </a:xfrm>
          <a:prstGeom prst="rect">
            <a:avLst/>
          </a:prstGeom>
          <a:noFill/>
          <a:ln/>
        </p:spPr>
        <p:txBody>
          <a:bodyPr wrap="none" lIns="0" tIns="0" rIns="0" bIns="0" rtlCol="0" anchor="t"/>
          <a:lstStyle/>
          <a:p>
            <a:pPr algn="l" indent="0" marL="0">
              <a:lnSpc>
                <a:spcPct val="100000"/>
              </a:lnSpc>
              <a:buNone/>
            </a:pPr>
            <a:r>
              <a:rPr lang="en-US" sz="700" dirty="0">
                <a:solidFill>
                  <a:srgbClr val="272525"/>
                </a:solidFill>
                <a:latin typeface="Inter" pitchFamily="34" charset="0"/>
                <a:ea typeface="Inter" pitchFamily="34" charset="-122"/>
                <a:cs typeface="Inter" pitchFamily="34" charset="-120"/>
              </a:rPr>
              <a:t>Organization scale or headcount</a:t>
            </a:r>
            <a:endParaRPr lang="en-US" sz="700" dirty="0"/>
          </a:p>
        </p:txBody>
      </p:sp>
      <p:pic>
        <p:nvPicPr>
          <p:cNvPr id="53" name="Image 20" descr="preencoded.png">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7938790" y="4542532"/>
            <a:ext cx="3591430" cy="774402"/>
          </a:xfrm>
          <a:prstGeom prst="rect">
            <a:avLst/>
          </a:prstGeom>
        </p:spPr>
      </p:pic>
      <p:pic>
        <p:nvPicPr>
          <p:cNvPr id="54" name="Image 21" descr="preencoded.png">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9677803" y="4627463"/>
            <a:ext cx="113404" cy="113407"/>
          </a:xfrm>
          <a:prstGeom prst="rect">
            <a:avLst/>
          </a:prstGeom>
        </p:spPr>
      </p:pic>
      <p:sp>
        <p:nvSpPr>
          <p:cNvPr id="55" name="Text 31"/>
          <p:cNvSpPr/>
          <p:nvPr/>
        </p:nvSpPr>
        <p:spPr>
          <a:xfrm>
            <a:off x="8045943" y="4920456"/>
            <a:ext cx="3377123" cy="147638"/>
          </a:xfrm>
          <a:prstGeom prst="rect">
            <a:avLst/>
          </a:prstGeom>
          <a:noFill/>
          <a:ln/>
        </p:spPr>
        <p:txBody>
          <a:bodyPr wrap="none" lIns="0" tIns="0" rIns="0" bIns="0" rtlCol="0" anchor="t"/>
          <a:lstStyle/>
          <a:p>
            <a:pPr algn="l" indent="0" marL="0">
              <a:lnSpc>
                <a:spcPct val="104000"/>
              </a:lnSpc>
              <a:buNone/>
            </a:pPr>
            <a:r>
              <a:rPr lang="en-US" sz="900" b="1" dirty="0">
                <a:solidFill>
                  <a:srgbClr val="272525"/>
                </a:solidFill>
                <a:latin typeface="Inter Bold" pitchFamily="34" charset="0"/>
                <a:ea typeface="Inter Bold" pitchFamily="34" charset="-122"/>
                <a:cs typeface="Inter Bold" pitchFamily="34" charset="-120"/>
              </a:rPr>
              <a:t>Industry</a:t>
            </a:r>
            <a:endParaRPr lang="en-US" sz="900" dirty="0"/>
          </a:p>
        </p:txBody>
      </p:sp>
      <p:sp>
        <p:nvSpPr>
          <p:cNvPr id="56" name="Text 32"/>
          <p:cNvSpPr/>
          <p:nvPr/>
        </p:nvSpPr>
        <p:spPr>
          <a:xfrm>
            <a:off x="8045943" y="5096371"/>
            <a:ext cx="3377123" cy="113407"/>
          </a:xfrm>
          <a:prstGeom prst="rect">
            <a:avLst/>
          </a:prstGeom>
          <a:noFill/>
          <a:ln/>
        </p:spPr>
        <p:txBody>
          <a:bodyPr wrap="none" lIns="0" tIns="0" rIns="0" bIns="0" rtlCol="0" anchor="t"/>
          <a:lstStyle/>
          <a:p>
            <a:pPr algn="l" indent="0" marL="0">
              <a:lnSpc>
                <a:spcPct val="100000"/>
              </a:lnSpc>
              <a:buNone/>
            </a:pPr>
            <a:r>
              <a:rPr lang="en-US" sz="700" dirty="0">
                <a:solidFill>
                  <a:srgbClr val="272525"/>
                </a:solidFill>
                <a:latin typeface="Inter" pitchFamily="34" charset="0"/>
                <a:ea typeface="Inter" pitchFamily="34" charset="-122"/>
                <a:cs typeface="Inter" pitchFamily="34" charset="-120"/>
              </a:rPr>
              <a:t>Business sector or field</a:t>
            </a:r>
            <a:endParaRPr lang="en-US" sz="700" dirty="0"/>
          </a:p>
        </p:txBody>
      </p:sp>
      <p:pic>
        <p:nvPicPr>
          <p:cNvPr id="57" name="Image 22" descr="preencoded.png">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661475" y="5364162"/>
            <a:ext cx="5410759" cy="774402"/>
          </a:xfrm>
          <a:prstGeom prst="rect">
            <a:avLst/>
          </a:prstGeom>
        </p:spPr>
      </p:pic>
      <p:pic>
        <p:nvPicPr>
          <p:cNvPr id="58" name="Image 23" descr="preencoded.png">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3310103" y="5449094"/>
            <a:ext cx="113404" cy="113407"/>
          </a:xfrm>
          <a:prstGeom prst="rect">
            <a:avLst/>
          </a:prstGeom>
        </p:spPr>
      </p:pic>
      <p:sp>
        <p:nvSpPr>
          <p:cNvPr id="59" name="Text 33"/>
          <p:cNvSpPr/>
          <p:nvPr/>
        </p:nvSpPr>
        <p:spPr>
          <a:xfrm>
            <a:off x="768628" y="5742087"/>
            <a:ext cx="5196452" cy="147638"/>
          </a:xfrm>
          <a:prstGeom prst="rect">
            <a:avLst/>
          </a:prstGeom>
          <a:noFill/>
          <a:ln/>
        </p:spPr>
        <p:txBody>
          <a:bodyPr wrap="none" lIns="0" tIns="0" rIns="0" bIns="0" rtlCol="0" anchor="t"/>
          <a:lstStyle/>
          <a:p>
            <a:pPr algn="l" indent="0" marL="0">
              <a:lnSpc>
                <a:spcPct val="104000"/>
              </a:lnSpc>
              <a:buNone/>
            </a:pPr>
            <a:r>
              <a:rPr lang="en-US" sz="900" b="1" dirty="0">
                <a:solidFill>
                  <a:srgbClr val="272525"/>
                </a:solidFill>
                <a:latin typeface="Inter Bold" pitchFamily="34" charset="0"/>
                <a:ea typeface="Inter Bold" pitchFamily="34" charset="-122"/>
                <a:cs typeface="Inter Bold" pitchFamily="34" charset="-120"/>
              </a:rPr>
              <a:t>Job Satisfaction</a:t>
            </a:r>
            <a:endParaRPr lang="en-US" sz="900" dirty="0"/>
          </a:p>
        </p:txBody>
      </p:sp>
      <p:sp>
        <p:nvSpPr>
          <p:cNvPr id="60" name="Text 34"/>
          <p:cNvSpPr/>
          <p:nvPr/>
        </p:nvSpPr>
        <p:spPr>
          <a:xfrm>
            <a:off x="768628" y="5918002"/>
            <a:ext cx="5196452" cy="113407"/>
          </a:xfrm>
          <a:prstGeom prst="rect">
            <a:avLst/>
          </a:prstGeom>
          <a:noFill/>
          <a:ln/>
        </p:spPr>
        <p:txBody>
          <a:bodyPr wrap="none" lIns="0" tIns="0" rIns="0" bIns="0" rtlCol="0" anchor="t"/>
          <a:lstStyle/>
          <a:p>
            <a:pPr algn="l" indent="0" marL="0">
              <a:lnSpc>
                <a:spcPct val="100000"/>
              </a:lnSpc>
              <a:buNone/>
            </a:pPr>
            <a:r>
              <a:rPr lang="en-US" sz="700" dirty="0">
                <a:solidFill>
                  <a:srgbClr val="272525"/>
                </a:solidFill>
                <a:latin typeface="Inter" pitchFamily="34" charset="0"/>
                <a:ea typeface="Inter" pitchFamily="34" charset="-122"/>
                <a:cs typeface="Inter" pitchFamily="34" charset="-120"/>
              </a:rPr>
              <a:t>Reported satisfaction with current role</a:t>
            </a:r>
            <a:endParaRPr lang="en-US" sz="700" dirty="0"/>
          </a:p>
        </p:txBody>
      </p:sp>
      <p:pic>
        <p:nvPicPr>
          <p:cNvPr id="61" name="Image 24" descr="preencoded.png">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6119461" y="5364162"/>
            <a:ext cx="5410759" cy="774402"/>
          </a:xfrm>
          <a:prstGeom prst="rect">
            <a:avLst/>
          </a:prstGeom>
        </p:spPr>
      </p:pic>
      <p:pic>
        <p:nvPicPr>
          <p:cNvPr id="62" name="Image 25" descr="preencoded.png">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8768089" y="5449094"/>
            <a:ext cx="113404" cy="113407"/>
          </a:xfrm>
          <a:prstGeom prst="rect">
            <a:avLst/>
          </a:prstGeom>
        </p:spPr>
      </p:pic>
      <p:sp>
        <p:nvSpPr>
          <p:cNvPr id="63" name="Text 35"/>
          <p:cNvSpPr/>
          <p:nvPr/>
        </p:nvSpPr>
        <p:spPr>
          <a:xfrm>
            <a:off x="6226615" y="5742087"/>
            <a:ext cx="5196452" cy="147638"/>
          </a:xfrm>
          <a:prstGeom prst="rect">
            <a:avLst/>
          </a:prstGeom>
          <a:noFill/>
          <a:ln/>
        </p:spPr>
        <p:txBody>
          <a:bodyPr wrap="none" lIns="0" tIns="0" rIns="0" bIns="0" rtlCol="0" anchor="t"/>
          <a:lstStyle/>
          <a:p>
            <a:pPr algn="l" indent="0" marL="0">
              <a:lnSpc>
                <a:spcPct val="104000"/>
              </a:lnSpc>
              <a:buNone/>
            </a:pPr>
            <a:r>
              <a:rPr lang="en-US" sz="900" b="1" dirty="0">
                <a:solidFill>
                  <a:srgbClr val="272525"/>
                </a:solidFill>
                <a:latin typeface="Inter Bold" pitchFamily="34" charset="0"/>
                <a:ea typeface="Inter Bold" pitchFamily="34" charset="-122"/>
                <a:cs typeface="Inter Bold" pitchFamily="34" charset="-120"/>
              </a:rPr>
              <a:t>Career Advancement</a:t>
            </a:r>
            <a:endParaRPr lang="en-US" sz="900" dirty="0"/>
          </a:p>
        </p:txBody>
      </p:sp>
      <p:sp>
        <p:nvSpPr>
          <p:cNvPr id="64" name="Text 36"/>
          <p:cNvSpPr/>
          <p:nvPr/>
        </p:nvSpPr>
        <p:spPr>
          <a:xfrm>
            <a:off x="6226615" y="5918002"/>
            <a:ext cx="5196452" cy="113407"/>
          </a:xfrm>
          <a:prstGeom prst="rect">
            <a:avLst/>
          </a:prstGeom>
          <a:noFill/>
          <a:ln/>
        </p:spPr>
        <p:txBody>
          <a:bodyPr wrap="none" lIns="0" tIns="0" rIns="0" bIns="0" rtlCol="0" anchor="t"/>
          <a:lstStyle/>
          <a:p>
            <a:pPr algn="l" indent="0" marL="0">
              <a:lnSpc>
                <a:spcPct val="100000"/>
              </a:lnSpc>
              <a:buNone/>
            </a:pPr>
            <a:r>
              <a:rPr lang="en-US" sz="700" dirty="0">
                <a:solidFill>
                  <a:srgbClr val="272525"/>
                </a:solidFill>
                <a:latin typeface="Inter" pitchFamily="34" charset="0"/>
                <a:ea typeface="Inter" pitchFamily="34" charset="-122"/>
                <a:cs typeface="Inter" pitchFamily="34" charset="-120"/>
              </a:rPr>
              <a:t>Indicators of progression and growth</a:t>
            </a:r>
            <a:endParaRPr lang="en-US" sz="700" dirty="0"/>
          </a:p>
        </p:txBody>
      </p:sp>
      <p:sp>
        <p:nvSpPr>
          <p:cNvPr id="65" name="Shape 37"/>
          <p:cNvSpPr/>
          <p:nvPr/>
        </p:nvSpPr>
        <p:spPr>
          <a:xfrm>
            <a:off x="661475" y="6215261"/>
            <a:ext cx="10868745" cy="12700"/>
          </a:xfrm>
          <a:prstGeom prst="roundRect">
            <a:avLst>
              <a:gd name="adj" fmla="val 59999"/>
            </a:avLst>
          </a:prstGeom>
          <a:solidFill>
            <a:srgbClr val="272525">
              <a:alpha val="50000"/>
            </a:srgbClr>
          </a:solidFill>
          <a:ln/>
        </p:spPr>
      </p:sp>
      <p:sp>
        <p:nvSpPr>
          <p:cNvPr id="66" name="Text 38"/>
          <p:cNvSpPr/>
          <p:nvPr/>
        </p:nvSpPr>
        <p:spPr>
          <a:xfrm>
            <a:off x="661475" y="6322417"/>
            <a:ext cx="10868745" cy="147638"/>
          </a:xfrm>
          <a:prstGeom prst="rect">
            <a:avLst/>
          </a:prstGeom>
          <a:noFill/>
          <a:ln/>
        </p:spPr>
        <p:txBody>
          <a:bodyPr wrap="none" lIns="0" tIns="0" rIns="0" bIns="0" rtlCol="0" anchor="t"/>
          <a:lstStyle/>
          <a:p>
            <a:pPr algn="l" indent="0" marL="0">
              <a:lnSpc>
                <a:spcPct val="104000"/>
              </a:lnSpc>
              <a:buNone/>
            </a:pPr>
            <a:r>
              <a:rPr lang="en-US" sz="900" b="1" dirty="0">
                <a:solidFill>
                  <a:srgbClr val="000000"/>
                </a:solidFill>
                <a:latin typeface="Inter Bold" pitchFamily="34" charset="0"/>
                <a:ea typeface="Inter Bold" pitchFamily="34" charset="-122"/>
                <a:cs typeface="Inter Bold" pitchFamily="34" charset="-120"/>
              </a:rPr>
              <a:t>Key Variables Used</a:t>
            </a:r>
            <a:endParaRPr lang="en-US" sz="900" dirty="0"/>
          </a:p>
        </p:txBody>
      </p:sp>
      <p:sp>
        <p:nvSpPr>
          <p:cNvPr id="67" name="Text 39"/>
          <p:cNvSpPr/>
          <p:nvPr/>
        </p:nvSpPr>
        <p:spPr>
          <a:xfrm>
            <a:off x="661475" y="6540897"/>
            <a:ext cx="10868745" cy="503039"/>
          </a:xfrm>
          <a:prstGeom prst="rect">
            <a:avLst/>
          </a:prstGeom>
          <a:noFill/>
          <a:ln/>
        </p:spPr>
        <p:txBody>
          <a:bodyPr wrap="square" lIns="0" tIns="0" rIns="0" bIns="0" rtlCol="0" anchor="t">
            <a:normAutofit/>
          </a:bodyPr>
          <a:lstStyle/>
          <a:p>
            <a:pPr algn="l" marL="142240" indent="-142240">
              <a:lnSpc>
                <a:spcPct val="100000"/>
              </a:lnSpc>
              <a:buSzPct val="100000"/>
              <a:buChar char="•"/>
            </a:pPr>
            <a:r>
              <a:rPr lang="en-US" sz="700" dirty="0">
                <a:solidFill>
                  <a:srgbClr val="272525"/>
                </a:solidFill>
                <a:latin typeface="Inter" pitchFamily="34" charset="0"/>
                <a:ea typeface="Inter" pitchFamily="34" charset="-122"/>
                <a:cs typeface="Inter" pitchFamily="34" charset="-120"/>
              </a:rPr>
              <a:t>category</a:t>
            </a:r>
            <a:endParaRPr lang="en-US" sz="700" dirty="0"/>
          </a:p>
          <a:p>
            <a:pPr algn="l" marL="142240" indent="-142240">
              <a:lnSpc>
                <a:spcPct val="100000"/>
              </a:lnSpc>
              <a:buSzPct val="100000"/>
              <a:buChar char="•"/>
            </a:pPr>
            <a:r>
              <a:rPr lang="en-US" sz="700" dirty="0">
                <a:solidFill>
                  <a:srgbClr val="272525"/>
                </a:solidFill>
                <a:latin typeface="Inter" pitchFamily="34" charset="0"/>
                <a:ea typeface="Inter" pitchFamily="34" charset="-122"/>
                <a:cs typeface="Inter" pitchFamily="34" charset="-120"/>
              </a:rPr>
              <a:t>experience</a:t>
            </a:r>
            <a:endParaRPr lang="en-US" sz="700" dirty="0"/>
          </a:p>
          <a:p>
            <a:pPr algn="l" marL="142240" indent="-142240">
              <a:lnSpc>
                <a:spcPct val="100000"/>
              </a:lnSpc>
              <a:buSzPct val="100000"/>
              <a:buChar char="•"/>
            </a:pPr>
            <a:r>
              <a:rPr lang="en-US" sz="700" dirty="0">
                <a:solidFill>
                  <a:srgbClr val="272525"/>
                </a:solidFill>
                <a:latin typeface="Inter" pitchFamily="34" charset="0"/>
                <a:ea typeface="Inter" pitchFamily="34" charset="-122"/>
                <a:cs typeface="Inter" pitchFamily="34" charset="-120"/>
              </a:rPr>
              <a:t>position</a:t>
            </a:r>
            <a:endParaRPr lang="en-US" sz="700" dirty="0"/>
          </a:p>
          <a:p>
            <a:pPr algn="l" marL="142240" indent="-142240">
              <a:lnSpc>
                <a:spcPct val="100000"/>
              </a:lnSpc>
              <a:buSzPct val="100000"/>
              <a:buChar char="•"/>
            </a:pPr>
            <a:r>
              <a:rPr lang="en-US" sz="700" dirty="0">
                <a:solidFill>
                  <a:srgbClr val="272525"/>
                </a:solidFill>
                <a:latin typeface="Inter" pitchFamily="34" charset="0"/>
                <a:ea typeface="Inter" pitchFamily="34" charset="-122"/>
                <a:cs typeface="Inter" pitchFamily="34" charset="-120"/>
              </a:rPr>
              <a:t>clean_skills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87970"/>
            <a:ext cx="10868745" cy="498376"/>
          </a:xfrm>
          <a:prstGeom prst="rect">
            <a:avLst/>
          </a:prstGeom>
          <a:noFill/>
          <a:ln/>
        </p:spPr>
        <p:txBody>
          <a:bodyPr wrap="none" lIns="0" tIns="0" rIns="0" bIns="0" rtlCol="0" anchor="t"/>
          <a:lstStyle/>
          <a:p>
            <a:pPr algn="ctr" indent="0" marL="0">
              <a:lnSpc>
                <a:spcPct val="104000"/>
              </a:lnSpc>
              <a:buNone/>
            </a:pPr>
            <a:r>
              <a:rPr lang="en-US" sz="3100" b="1" dirty="0">
                <a:solidFill>
                  <a:srgbClr val="000000"/>
                </a:solidFill>
                <a:latin typeface="Inter Bold" pitchFamily="34" charset="0"/>
                <a:ea typeface="Inter Bold" pitchFamily="34" charset="-122"/>
                <a:cs typeface="Inter Bold" pitchFamily="34" charset="-120"/>
              </a:rPr>
              <a:t>EXPLORATORY DATA ANALYSIS</a:t>
            </a:r>
            <a:endParaRPr lang="en-US" sz="3100" dirty="0"/>
          </a:p>
        </p:txBody>
      </p:sp>
      <p:sp>
        <p:nvSpPr>
          <p:cNvPr id="3" name="Shape 1"/>
          <p:cNvSpPr/>
          <p:nvPr/>
        </p:nvSpPr>
        <p:spPr>
          <a:xfrm>
            <a:off x="661475" y="1395214"/>
            <a:ext cx="10868745" cy="19050"/>
          </a:xfrm>
          <a:prstGeom prst="roundRect">
            <a:avLst>
              <a:gd name="adj" fmla="val 59999"/>
            </a:avLst>
          </a:prstGeom>
          <a:solidFill>
            <a:srgbClr val="272525">
              <a:alpha val="50000"/>
            </a:srgbClr>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756668"/>
            <a:ext cx="318881" cy="318889"/>
          </a:xfrm>
          <a:prstGeom prst="rect">
            <a:avLst/>
          </a:prstGeom>
        </p:spPr>
      </p:pic>
      <p:sp>
        <p:nvSpPr>
          <p:cNvPr id="5" name="Text 2"/>
          <p:cNvSpPr/>
          <p:nvPr/>
        </p:nvSpPr>
        <p:spPr>
          <a:xfrm>
            <a:off x="661475" y="2243733"/>
            <a:ext cx="3363035" cy="249138"/>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Inter Bold" pitchFamily="34" charset="0"/>
                <a:ea typeface="Inter Bold" pitchFamily="34" charset="-122"/>
                <a:cs typeface="Inter Bold" pitchFamily="34" charset="-120"/>
              </a:rPr>
              <a:t>Dataset Overview</a:t>
            </a:r>
            <a:endParaRPr lang="en-US" sz="1550" dirty="0"/>
          </a:p>
        </p:txBody>
      </p:sp>
      <p:sp>
        <p:nvSpPr>
          <p:cNvPr id="6" name="Text 3"/>
          <p:cNvSpPr/>
          <p:nvPr/>
        </p:nvSpPr>
        <p:spPr>
          <a:xfrm>
            <a:off x="661475" y="2627412"/>
            <a:ext cx="3363035" cy="1410891"/>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272525"/>
                </a:solidFill>
                <a:latin typeface="Inter" pitchFamily="34" charset="0"/>
                <a:ea typeface="Inter" pitchFamily="34" charset="-122"/>
                <a:cs typeface="Inter" pitchFamily="34" charset="-120"/>
              </a:rPr>
              <a:t>The dataset consists of 1,251 LinkedIn employee profiles with 11 features, including career category, years of experience, job position, and skills. These features form the basis for predicting employee career advancement.</a:t>
            </a:r>
            <a:endParaRPr lang="en-US" sz="12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4307384"/>
            <a:ext cx="318881" cy="318889"/>
          </a:xfrm>
          <a:prstGeom prst="rect">
            <a:avLst/>
          </a:prstGeom>
        </p:spPr>
      </p:pic>
      <p:sp>
        <p:nvSpPr>
          <p:cNvPr id="8" name="Text 4"/>
          <p:cNvSpPr/>
          <p:nvPr/>
        </p:nvSpPr>
        <p:spPr>
          <a:xfrm>
            <a:off x="661475" y="4794448"/>
            <a:ext cx="3363035" cy="249138"/>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Inter Bold" pitchFamily="34" charset="0"/>
                <a:ea typeface="Inter Bold" pitchFamily="34" charset="-122"/>
                <a:cs typeface="Inter Bold" pitchFamily="34" charset="-120"/>
              </a:rPr>
              <a:t>Data Quality</a:t>
            </a:r>
            <a:endParaRPr lang="en-US" sz="1550" dirty="0"/>
          </a:p>
        </p:txBody>
      </p:sp>
      <p:sp>
        <p:nvSpPr>
          <p:cNvPr id="9" name="Text 5"/>
          <p:cNvSpPr/>
          <p:nvPr/>
        </p:nvSpPr>
        <p:spPr>
          <a:xfrm>
            <a:off x="661475" y="5178127"/>
            <a:ext cx="3363035" cy="940594"/>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272525"/>
                </a:solidFill>
                <a:latin typeface="Inter" pitchFamily="34" charset="0"/>
                <a:ea typeface="Inter" pitchFamily="34" charset="-122"/>
                <a:cs typeface="Inter" pitchFamily="34" charset="-120"/>
              </a:rPr>
              <a:t>The dataset was inspected for missing values, duplicate records, and inconsistent formatting before model training to ensure high-quality input data.</a:t>
            </a:r>
            <a:endParaRPr lang="en-US" sz="12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19986" y="1756668"/>
            <a:ext cx="318881" cy="318889"/>
          </a:xfrm>
          <a:prstGeom prst="rect">
            <a:avLst/>
          </a:prstGeom>
        </p:spPr>
      </p:pic>
      <p:sp>
        <p:nvSpPr>
          <p:cNvPr id="11" name="Text 6"/>
          <p:cNvSpPr/>
          <p:nvPr/>
        </p:nvSpPr>
        <p:spPr>
          <a:xfrm>
            <a:off x="4419986" y="2243733"/>
            <a:ext cx="3363035" cy="249138"/>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Inter Bold" pitchFamily="34" charset="0"/>
                <a:ea typeface="Inter Bold" pitchFamily="34" charset="-122"/>
                <a:cs typeface="Inter Bold" pitchFamily="34" charset="-120"/>
              </a:rPr>
              <a:t>Career Category Distribution</a:t>
            </a:r>
            <a:endParaRPr lang="en-US" sz="1550" dirty="0"/>
          </a:p>
        </p:txBody>
      </p:sp>
      <p:sp>
        <p:nvSpPr>
          <p:cNvPr id="12" name="Text 7"/>
          <p:cNvSpPr/>
          <p:nvPr/>
        </p:nvSpPr>
        <p:spPr>
          <a:xfrm>
            <a:off x="4419986" y="2627412"/>
            <a:ext cx="3363035" cy="940594"/>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272525"/>
                </a:solidFill>
                <a:latin typeface="Inter" pitchFamily="34" charset="0"/>
                <a:ea typeface="Inter" pitchFamily="34" charset="-122"/>
                <a:cs typeface="Inter" pitchFamily="34" charset="-120"/>
              </a:rPr>
              <a:t>The distribution of career categories was analyzed to understand the representation of different professional fields and identify potential class imbalance.</a:t>
            </a:r>
            <a:endParaRPr lang="en-US" sz="12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19986" y="3837087"/>
            <a:ext cx="318881" cy="318889"/>
          </a:xfrm>
          <a:prstGeom prst="rect">
            <a:avLst/>
          </a:prstGeom>
        </p:spPr>
      </p:pic>
      <p:sp>
        <p:nvSpPr>
          <p:cNvPr id="14" name="Text 8"/>
          <p:cNvSpPr/>
          <p:nvPr/>
        </p:nvSpPr>
        <p:spPr>
          <a:xfrm>
            <a:off x="4419986" y="4324152"/>
            <a:ext cx="3363035" cy="249138"/>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Inter Bold" pitchFamily="34" charset="0"/>
                <a:ea typeface="Inter Bold" pitchFamily="34" charset="-122"/>
                <a:cs typeface="Inter Bold" pitchFamily="34" charset="-120"/>
              </a:rPr>
              <a:t>Experience Distribution</a:t>
            </a:r>
            <a:endParaRPr lang="en-US" sz="1550" dirty="0"/>
          </a:p>
        </p:txBody>
      </p:sp>
      <p:sp>
        <p:nvSpPr>
          <p:cNvPr id="15" name="Text 9"/>
          <p:cNvSpPr/>
          <p:nvPr/>
        </p:nvSpPr>
        <p:spPr>
          <a:xfrm>
            <a:off x="4419986" y="4707830"/>
            <a:ext cx="3363035" cy="705445"/>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272525"/>
                </a:solidFill>
                <a:latin typeface="Inter" pitchFamily="34" charset="0"/>
                <a:ea typeface="Inter" pitchFamily="34" charset="-122"/>
                <a:cs typeface="Inter" pitchFamily="34" charset="-120"/>
              </a:rPr>
              <a:t>Years of experience were analyzed to understand the distribution of professionals across different career stages.</a:t>
            </a:r>
            <a:endParaRPr lang="en-US" sz="125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78496" y="1756668"/>
            <a:ext cx="318881" cy="318889"/>
          </a:xfrm>
          <a:prstGeom prst="rect">
            <a:avLst/>
          </a:prstGeom>
        </p:spPr>
      </p:pic>
      <p:sp>
        <p:nvSpPr>
          <p:cNvPr id="17" name="Text 10"/>
          <p:cNvSpPr/>
          <p:nvPr/>
        </p:nvSpPr>
        <p:spPr>
          <a:xfrm>
            <a:off x="8178496" y="2243733"/>
            <a:ext cx="3363035" cy="249138"/>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Inter Bold" pitchFamily="34" charset="0"/>
                <a:ea typeface="Inter Bold" pitchFamily="34" charset="-122"/>
                <a:cs typeface="Inter Bold" pitchFamily="34" charset="-120"/>
              </a:rPr>
              <a:t>Feature Relationships</a:t>
            </a:r>
            <a:endParaRPr lang="en-US" sz="1550" dirty="0"/>
          </a:p>
        </p:txBody>
      </p:sp>
      <p:sp>
        <p:nvSpPr>
          <p:cNvPr id="18" name="Text 11"/>
          <p:cNvSpPr/>
          <p:nvPr/>
        </p:nvSpPr>
        <p:spPr>
          <a:xfrm>
            <a:off x="8178496" y="2627412"/>
            <a:ext cx="3363035" cy="705445"/>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272525"/>
                </a:solidFill>
                <a:latin typeface="Inter" pitchFamily="34" charset="0"/>
                <a:ea typeface="Inter" pitchFamily="34" charset="-122"/>
                <a:cs typeface="Inter" pitchFamily="34" charset="-120"/>
              </a:rPr>
              <a:t>Correlation analysis was performed to understand relationships among numerical features and support feature engineering.</a:t>
            </a:r>
            <a:endParaRPr lang="en-US" sz="1250" dirty="0"/>
          </a:p>
        </p:txBody>
      </p:sp>
      <p:pic>
        <p:nvPicPr>
          <p:cNvPr id="1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178496" y="3601938"/>
            <a:ext cx="318881" cy="318889"/>
          </a:xfrm>
          <a:prstGeom prst="rect">
            <a:avLst/>
          </a:prstGeom>
        </p:spPr>
      </p:pic>
      <p:sp>
        <p:nvSpPr>
          <p:cNvPr id="20" name="Text 12"/>
          <p:cNvSpPr/>
          <p:nvPr/>
        </p:nvSpPr>
        <p:spPr>
          <a:xfrm>
            <a:off x="8178496" y="4089003"/>
            <a:ext cx="3363035" cy="249138"/>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Inter Bold" pitchFamily="34" charset="0"/>
                <a:ea typeface="Inter Bold" pitchFamily="34" charset="-122"/>
                <a:cs typeface="Inter Bold" pitchFamily="34" charset="-120"/>
              </a:rPr>
              <a:t>Feature Selection</a:t>
            </a:r>
            <a:endParaRPr lang="en-US" sz="1550" dirty="0"/>
          </a:p>
        </p:txBody>
      </p:sp>
      <p:sp>
        <p:nvSpPr>
          <p:cNvPr id="21" name="Text 13"/>
          <p:cNvSpPr/>
          <p:nvPr/>
        </p:nvSpPr>
        <p:spPr>
          <a:xfrm>
            <a:off x="8178496" y="4472682"/>
            <a:ext cx="3363035" cy="940594"/>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272525"/>
                </a:solidFill>
                <a:latin typeface="Inter" pitchFamily="34" charset="0"/>
                <a:ea typeface="Inter" pitchFamily="34" charset="-122"/>
                <a:cs typeface="Inter" pitchFamily="34" charset="-120"/>
              </a:rPr>
              <a:t>Exploratory analysis highlighted influential features such as experience, position, career category, and skills, which were used for machine learning model development.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624185"/>
            <a:ext cx="10868745" cy="424458"/>
          </a:xfrm>
          <a:prstGeom prst="rect">
            <a:avLst/>
          </a:prstGeom>
          <a:noFill/>
          <a:ln/>
        </p:spPr>
        <p:txBody>
          <a:bodyPr wrap="none" lIns="0" tIns="0" rIns="0" bIns="0" rtlCol="0" anchor="t"/>
          <a:lstStyle/>
          <a:p>
            <a:pPr algn="ctr" indent="0" marL="0">
              <a:lnSpc>
                <a:spcPct val="104000"/>
              </a:lnSpc>
              <a:buNone/>
            </a:pPr>
            <a:r>
              <a:rPr lang="en-US" sz="2650" b="1" dirty="0">
                <a:solidFill>
                  <a:srgbClr val="000000"/>
                </a:solidFill>
                <a:latin typeface="Inter Bold" pitchFamily="34" charset="0"/>
                <a:ea typeface="Inter Bold" pitchFamily="34" charset="-122"/>
                <a:cs typeface="Inter Bold" pitchFamily="34" charset="-120"/>
              </a:rPr>
              <a:t>EDA VISUALIZATIONS</a:t>
            </a:r>
            <a:endParaRPr lang="en-US" sz="2650" dirty="0"/>
          </a:p>
        </p:txBody>
      </p:sp>
      <p:sp>
        <p:nvSpPr>
          <p:cNvPr id="3" name="Shape 1"/>
          <p:cNvSpPr/>
          <p:nvPr/>
        </p:nvSpPr>
        <p:spPr>
          <a:xfrm>
            <a:off x="661475" y="1277838"/>
            <a:ext cx="10868745" cy="19050"/>
          </a:xfrm>
          <a:prstGeom prst="roundRect">
            <a:avLst>
              <a:gd name="adj" fmla="val 59999"/>
            </a:avLst>
          </a:prstGeom>
          <a:solidFill>
            <a:srgbClr val="272525">
              <a:alpha val="50000"/>
            </a:srgbClr>
          </a:solidFill>
          <a:ln/>
        </p:spPr>
      </p:sp>
      <p:sp>
        <p:nvSpPr>
          <p:cNvPr id="4" name="Text 2"/>
          <p:cNvSpPr/>
          <p:nvPr/>
        </p:nvSpPr>
        <p:spPr>
          <a:xfrm>
            <a:off x="661475" y="1538288"/>
            <a:ext cx="5268681" cy="212328"/>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Inter Bold" pitchFamily="34" charset="0"/>
                <a:ea typeface="Inter Bold" pitchFamily="34" charset="-122"/>
                <a:cs typeface="Inter Bold" pitchFamily="34" charset="-120"/>
              </a:rPr>
              <a:t>Correlation Heatmap</a:t>
            </a:r>
            <a:endParaRPr lang="en-US" sz="1300" dirty="0"/>
          </a:p>
        </p:txBody>
      </p:sp>
      <p:sp>
        <p:nvSpPr>
          <p:cNvPr id="5" name="Text 3"/>
          <p:cNvSpPr/>
          <p:nvPr/>
        </p:nvSpPr>
        <p:spPr>
          <a:xfrm>
            <a:off x="661475" y="1848247"/>
            <a:ext cx="5268681" cy="373459"/>
          </a:xfrm>
          <a:prstGeom prst="rect">
            <a:avLst/>
          </a:prstGeom>
          <a:noFill/>
          <a:ln/>
        </p:spPr>
        <p:txBody>
          <a:bodyPr wrap="square" lIns="0" tIns="0" rIns="0" bIns="0" rtlCol="0" anchor="t">
            <a:normAutofit/>
          </a:bodyPr>
          <a:lstStyle/>
          <a:p>
            <a:pPr algn="l" indent="0" marL="0">
              <a:lnSpc>
                <a:spcPct val="115000"/>
              </a:lnSpc>
              <a:buNone/>
            </a:pPr>
            <a:r>
              <a:rPr lang="en-US" sz="1050" dirty="0">
                <a:solidFill>
                  <a:srgbClr val="272525"/>
                </a:solidFill>
                <a:latin typeface="Inter" pitchFamily="34" charset="0"/>
                <a:ea typeface="Inter" pitchFamily="34" charset="-122"/>
                <a:cs typeface="Inter" pitchFamily="34" charset="-120"/>
              </a:rPr>
              <a:t>Correlation analysis was performed to understand relationships among numerical features and identify variables that may influence career advancement.</a:t>
            </a:r>
            <a:endParaRPr lang="en-US" sz="1050" dirty="0"/>
          </a:p>
        </p:txBody>
      </p:sp>
      <p:pic>
        <p:nvPicPr>
          <p:cNvPr id="6" name="Image 0" descr="preencoded.png">    </p:cNvPr>
          <p:cNvPicPr>
            <a:picLocks noChangeAspect="1"/>
          </p:cNvPicPr>
          <p:nvPr/>
        </p:nvPicPr>
        <p:blipFill>
          <a:blip r:embed="rId1"/>
          <a:stretch>
            <a:fillRect/>
          </a:stretch>
        </p:blipFill>
        <p:spPr>
          <a:xfrm>
            <a:off x="661475" y="2331541"/>
            <a:ext cx="5268681" cy="3792438"/>
          </a:xfrm>
          <a:prstGeom prst="rect">
            <a:avLst/>
          </a:prstGeom>
        </p:spPr>
      </p:pic>
      <p:sp>
        <p:nvSpPr>
          <p:cNvPr id="7" name="Text 4"/>
          <p:cNvSpPr/>
          <p:nvPr/>
        </p:nvSpPr>
        <p:spPr>
          <a:xfrm>
            <a:off x="6267889" y="1538288"/>
            <a:ext cx="5268681" cy="212328"/>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Inter Bold" pitchFamily="34" charset="0"/>
                <a:ea typeface="Inter Bold" pitchFamily="34" charset="-122"/>
                <a:cs typeface="Inter Bold" pitchFamily="34" charset="-120"/>
              </a:rPr>
              <a:t>Experience Distribution</a:t>
            </a:r>
            <a:endParaRPr lang="en-US" sz="1300" dirty="0"/>
          </a:p>
        </p:txBody>
      </p:sp>
      <p:sp>
        <p:nvSpPr>
          <p:cNvPr id="8" name="Text 5"/>
          <p:cNvSpPr/>
          <p:nvPr/>
        </p:nvSpPr>
        <p:spPr>
          <a:xfrm>
            <a:off x="6267889" y="1848247"/>
            <a:ext cx="5268681" cy="373459"/>
          </a:xfrm>
          <a:prstGeom prst="rect">
            <a:avLst/>
          </a:prstGeom>
          <a:noFill/>
          <a:ln/>
        </p:spPr>
        <p:txBody>
          <a:bodyPr wrap="square" lIns="0" tIns="0" rIns="0" bIns="0" rtlCol="0" anchor="t">
            <a:normAutofit/>
          </a:bodyPr>
          <a:lstStyle/>
          <a:p>
            <a:pPr algn="l" indent="0" marL="0">
              <a:lnSpc>
                <a:spcPct val="115000"/>
              </a:lnSpc>
              <a:buNone/>
            </a:pPr>
            <a:r>
              <a:rPr lang="en-US" sz="1050" dirty="0">
                <a:solidFill>
                  <a:srgbClr val="272525"/>
                </a:solidFill>
                <a:latin typeface="Inter" pitchFamily="34" charset="0"/>
                <a:ea typeface="Inter" pitchFamily="34" charset="-122"/>
                <a:cs typeface="Inter" pitchFamily="34" charset="-120"/>
              </a:rPr>
              <a:t>Distribution of employee experience across different career stages, providing insights into the composition of the dataset.</a:t>
            </a:r>
            <a:endParaRPr lang="en-US" sz="1050" dirty="0"/>
          </a:p>
        </p:txBody>
      </p:sp>
      <p:pic>
        <p:nvPicPr>
          <p:cNvPr id="9" name="Image 1" descr="preencoded.png">    </p:cNvPr>
          <p:cNvPicPr>
            <a:picLocks noChangeAspect="1"/>
          </p:cNvPicPr>
          <p:nvPr/>
        </p:nvPicPr>
        <p:blipFill>
          <a:blip r:embed="rId2"/>
          <a:stretch>
            <a:fillRect/>
          </a:stretch>
        </p:blipFill>
        <p:spPr>
          <a:xfrm>
            <a:off x="6267889" y="2331541"/>
            <a:ext cx="5268681" cy="37924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51061"/>
            <a:ext cx="10868745" cy="489148"/>
          </a:xfrm>
          <a:prstGeom prst="rect">
            <a:avLst/>
          </a:prstGeom>
          <a:noFill/>
          <a:ln/>
        </p:spPr>
        <p:txBody>
          <a:bodyPr wrap="none" lIns="0" tIns="0" rIns="0" bIns="0" rtlCol="0" anchor="t"/>
          <a:lstStyle/>
          <a:p>
            <a:pPr algn="ctr" indent="0" marL="0">
              <a:lnSpc>
                <a:spcPct val="104000"/>
              </a:lnSpc>
              <a:buNone/>
            </a:pPr>
            <a:r>
              <a:rPr lang="en-US" sz="3050" b="1" dirty="0">
                <a:solidFill>
                  <a:srgbClr val="000000"/>
                </a:solidFill>
                <a:latin typeface="Inter Bold" pitchFamily="34" charset="0"/>
                <a:ea typeface="Inter Bold" pitchFamily="34" charset="-122"/>
                <a:cs typeface="Inter Bold" pitchFamily="34" charset="-120"/>
              </a:rPr>
              <a:t>METHODOLOGY PIPELINE</a:t>
            </a:r>
            <a:endParaRPr lang="en-US" sz="3050" dirty="0"/>
          </a:p>
        </p:txBody>
      </p:sp>
      <p:sp>
        <p:nvSpPr>
          <p:cNvPr id="3" name="Shape 1"/>
          <p:cNvSpPr/>
          <p:nvPr/>
        </p:nvSpPr>
        <p:spPr>
          <a:xfrm>
            <a:off x="661475" y="1338560"/>
            <a:ext cx="10868745" cy="19050"/>
          </a:xfrm>
          <a:prstGeom prst="roundRect">
            <a:avLst>
              <a:gd name="adj" fmla="val 59999"/>
            </a:avLst>
          </a:prstGeom>
          <a:solidFill>
            <a:srgbClr val="272525">
              <a:alpha val="50000"/>
            </a:srgbClr>
          </a:solidFill>
          <a:ln/>
        </p:spPr>
      </p:sp>
      <p:sp>
        <p:nvSpPr>
          <p:cNvPr id="4" name="Text 2"/>
          <p:cNvSpPr/>
          <p:nvPr/>
        </p:nvSpPr>
        <p:spPr>
          <a:xfrm>
            <a:off x="356682" y="1542455"/>
            <a:ext cx="11478330" cy="228898"/>
          </a:xfrm>
          <a:prstGeom prst="rect">
            <a:avLst/>
          </a:prstGeom>
          <a:noFill/>
          <a:ln/>
        </p:spPr>
        <p:txBody>
          <a:bodyPr wrap="none" lIns="0" tIns="0" rIns="0" bIns="0" rtlCol="0" anchor="t"/>
          <a:lstStyle/>
          <a:p>
            <a:pPr algn="ctr" indent="0" marL="0">
              <a:lnSpc>
                <a:spcPct val="122000"/>
              </a:lnSpc>
              <a:buNone/>
            </a:pPr>
            <a:r>
              <a:rPr lang="en-US" sz="1200" dirty="0">
                <a:solidFill>
                  <a:srgbClr val="272525"/>
                </a:solidFill>
                <a:latin typeface="Inter" pitchFamily="34" charset="0"/>
                <a:ea typeface="Inter" pitchFamily="34" charset="-122"/>
                <a:cs typeface="Inter" pitchFamily="34" charset="-120"/>
              </a:rPr>
              <a:t>A complete end-to-end workflow from raw data to personalized career prediction</a:t>
            </a:r>
            <a:endParaRPr lang="en-US" sz="1200" dirty="0"/>
          </a:p>
        </p:txBody>
      </p:sp>
      <p:pic>
        <p:nvPicPr>
          <p:cNvPr id="5" name="Image 0" descr="preencoded.png">    </p:cNvPr>
          <p:cNvPicPr>
            <a:picLocks noChangeAspect="1"/>
          </p:cNvPicPr>
          <p:nvPr/>
        </p:nvPicPr>
        <p:blipFill>
          <a:blip r:embed="rId1"/>
          <a:stretch>
            <a:fillRect/>
          </a:stretch>
        </p:blipFill>
        <p:spPr>
          <a:xfrm>
            <a:off x="661475" y="1917105"/>
            <a:ext cx="5434373" cy="626070"/>
          </a:xfrm>
          <a:prstGeom prst="rect">
            <a:avLst/>
          </a:prstGeom>
        </p:spPr>
      </p:pic>
      <p:sp>
        <p:nvSpPr>
          <p:cNvPr id="6" name="Text 3"/>
          <p:cNvSpPr/>
          <p:nvPr/>
        </p:nvSpPr>
        <p:spPr>
          <a:xfrm>
            <a:off x="817939" y="2672755"/>
            <a:ext cx="5121445" cy="244574"/>
          </a:xfrm>
          <a:prstGeom prst="rect">
            <a:avLst/>
          </a:prstGeom>
          <a:noFill/>
          <a:ln/>
        </p:spPr>
        <p:txBody>
          <a:bodyPr wrap="none" lIns="0" tIns="0" rIns="0" bIns="0" rtlCol="0" anchor="t"/>
          <a:lstStyle/>
          <a:p>
            <a:pPr algn="l" indent="0" marL="0">
              <a:lnSpc>
                <a:spcPct val="104000"/>
              </a:lnSpc>
              <a:buNone/>
            </a:pPr>
            <a:r>
              <a:rPr lang="en-US" sz="1500" b="1" dirty="0">
                <a:solidFill>
                  <a:srgbClr val="272525"/>
                </a:solidFill>
                <a:latin typeface="Inter Bold" pitchFamily="34" charset="0"/>
                <a:ea typeface="Inter Bold" pitchFamily="34" charset="-122"/>
                <a:cs typeface="Inter Bold" pitchFamily="34" charset="-120"/>
              </a:rPr>
              <a:t>Data Preprocessing</a:t>
            </a:r>
            <a:endParaRPr lang="en-US" sz="1500" dirty="0"/>
          </a:p>
        </p:txBody>
      </p:sp>
      <p:sp>
        <p:nvSpPr>
          <p:cNvPr id="7" name="Text 4"/>
          <p:cNvSpPr/>
          <p:nvPr/>
        </p:nvSpPr>
        <p:spPr>
          <a:xfrm>
            <a:off x="817939" y="2995017"/>
            <a:ext cx="5121445" cy="228898"/>
          </a:xfrm>
          <a:prstGeom prst="rect">
            <a:avLst/>
          </a:prstGeom>
          <a:noFill/>
          <a:ln/>
        </p:spPr>
        <p:txBody>
          <a:bodyPr wrap="none" lIns="0" tIns="0" rIns="0" bIns="0" rtlCol="0" anchor="t"/>
          <a:lstStyle/>
          <a:p>
            <a:pPr algn="l" indent="0" marL="0">
              <a:lnSpc>
                <a:spcPct val="122000"/>
              </a:lnSpc>
              <a:buNone/>
            </a:pPr>
            <a:r>
              <a:rPr lang="en-US" sz="1200" dirty="0">
                <a:solidFill>
                  <a:srgbClr val="272525"/>
                </a:solidFill>
                <a:latin typeface="Inter" pitchFamily="34" charset="0"/>
                <a:ea typeface="Inter" pitchFamily="34" charset="-122"/>
                <a:cs typeface="Inter" pitchFamily="34" charset="-120"/>
              </a:rPr>
              <a:t>Remove inconsistencies and prepare data</a:t>
            </a:r>
            <a:endParaRPr lang="en-US" sz="1200" dirty="0"/>
          </a:p>
        </p:txBody>
      </p:sp>
      <p:pic>
        <p:nvPicPr>
          <p:cNvPr id="8" name="Image 1" descr="preencoded.png">    </p:cNvPr>
          <p:cNvPicPr>
            <a:picLocks noChangeAspect="1"/>
          </p:cNvPicPr>
          <p:nvPr/>
        </p:nvPicPr>
        <p:blipFill>
          <a:blip r:embed="rId2"/>
          <a:stretch>
            <a:fillRect/>
          </a:stretch>
        </p:blipFill>
        <p:spPr>
          <a:xfrm>
            <a:off x="6095848" y="1917105"/>
            <a:ext cx="5434373" cy="626070"/>
          </a:xfrm>
          <a:prstGeom prst="rect">
            <a:avLst/>
          </a:prstGeom>
        </p:spPr>
      </p:pic>
      <p:sp>
        <p:nvSpPr>
          <p:cNvPr id="9" name="Text 5"/>
          <p:cNvSpPr/>
          <p:nvPr/>
        </p:nvSpPr>
        <p:spPr>
          <a:xfrm>
            <a:off x="6252312" y="2672755"/>
            <a:ext cx="5121445" cy="244574"/>
          </a:xfrm>
          <a:prstGeom prst="rect">
            <a:avLst/>
          </a:prstGeom>
          <a:noFill/>
          <a:ln/>
        </p:spPr>
        <p:txBody>
          <a:bodyPr wrap="none" lIns="0" tIns="0" rIns="0" bIns="0" rtlCol="0" anchor="t"/>
          <a:lstStyle/>
          <a:p>
            <a:pPr algn="l" indent="0" marL="0">
              <a:lnSpc>
                <a:spcPct val="104000"/>
              </a:lnSpc>
              <a:buNone/>
            </a:pPr>
            <a:r>
              <a:rPr lang="en-US" sz="1500" b="1" dirty="0">
                <a:solidFill>
                  <a:srgbClr val="272525"/>
                </a:solidFill>
                <a:latin typeface="Inter Bold" pitchFamily="34" charset="0"/>
                <a:ea typeface="Inter Bold" pitchFamily="34" charset="-122"/>
                <a:cs typeface="Inter Bold" pitchFamily="34" charset="-120"/>
              </a:rPr>
              <a:t>Feature Engineering</a:t>
            </a:r>
            <a:endParaRPr lang="en-US" sz="1500" dirty="0"/>
          </a:p>
        </p:txBody>
      </p:sp>
      <p:sp>
        <p:nvSpPr>
          <p:cNvPr id="10" name="Text 6"/>
          <p:cNvSpPr/>
          <p:nvPr/>
        </p:nvSpPr>
        <p:spPr>
          <a:xfrm>
            <a:off x="6252312" y="2995017"/>
            <a:ext cx="5121445" cy="228898"/>
          </a:xfrm>
          <a:prstGeom prst="rect">
            <a:avLst/>
          </a:prstGeom>
          <a:noFill/>
          <a:ln/>
        </p:spPr>
        <p:txBody>
          <a:bodyPr wrap="none" lIns="0" tIns="0" rIns="0" bIns="0" rtlCol="0" anchor="t"/>
          <a:lstStyle/>
          <a:p>
            <a:pPr algn="l" indent="0" marL="0">
              <a:lnSpc>
                <a:spcPct val="122000"/>
              </a:lnSpc>
              <a:buNone/>
            </a:pPr>
            <a:r>
              <a:rPr lang="en-US" sz="1200" dirty="0">
                <a:solidFill>
                  <a:srgbClr val="272525"/>
                </a:solidFill>
                <a:latin typeface="Inter" pitchFamily="34" charset="0"/>
                <a:ea typeface="Inter" pitchFamily="34" charset="-122"/>
                <a:cs typeface="Inter" pitchFamily="34" charset="-120"/>
              </a:rPr>
              <a:t>Derive new variables and rank features</a:t>
            </a:r>
            <a:endParaRPr lang="en-US" sz="1200" dirty="0"/>
          </a:p>
        </p:txBody>
      </p:sp>
      <p:pic>
        <p:nvPicPr>
          <p:cNvPr id="11" name="Image 2" descr="preencoded.png">    </p:cNvPr>
          <p:cNvPicPr>
            <a:picLocks noChangeAspect="1"/>
          </p:cNvPicPr>
          <p:nvPr/>
        </p:nvPicPr>
        <p:blipFill>
          <a:blip r:embed="rId3"/>
          <a:stretch>
            <a:fillRect/>
          </a:stretch>
        </p:blipFill>
        <p:spPr>
          <a:xfrm>
            <a:off x="661475" y="3380383"/>
            <a:ext cx="5434373" cy="626070"/>
          </a:xfrm>
          <a:prstGeom prst="rect">
            <a:avLst/>
          </a:prstGeom>
        </p:spPr>
      </p:pic>
      <p:sp>
        <p:nvSpPr>
          <p:cNvPr id="12" name="Text 7"/>
          <p:cNvSpPr/>
          <p:nvPr/>
        </p:nvSpPr>
        <p:spPr>
          <a:xfrm>
            <a:off x="817939" y="4136033"/>
            <a:ext cx="5121445" cy="244574"/>
          </a:xfrm>
          <a:prstGeom prst="rect">
            <a:avLst/>
          </a:prstGeom>
          <a:noFill/>
          <a:ln/>
        </p:spPr>
        <p:txBody>
          <a:bodyPr wrap="none" lIns="0" tIns="0" rIns="0" bIns="0" rtlCol="0" anchor="t"/>
          <a:lstStyle/>
          <a:p>
            <a:pPr algn="l" indent="0" marL="0">
              <a:lnSpc>
                <a:spcPct val="104000"/>
              </a:lnSpc>
              <a:buNone/>
            </a:pPr>
            <a:r>
              <a:rPr lang="en-US" sz="1500" b="1" dirty="0">
                <a:solidFill>
                  <a:srgbClr val="272525"/>
                </a:solidFill>
                <a:latin typeface="Inter Bold" pitchFamily="34" charset="0"/>
                <a:ea typeface="Inter Bold" pitchFamily="34" charset="-122"/>
                <a:cs typeface="Inter Bold" pitchFamily="34" charset="-120"/>
              </a:rPr>
              <a:t>Model Training</a:t>
            </a:r>
            <a:endParaRPr lang="en-US" sz="1500" dirty="0"/>
          </a:p>
        </p:txBody>
      </p:sp>
      <p:sp>
        <p:nvSpPr>
          <p:cNvPr id="13" name="Text 8"/>
          <p:cNvSpPr/>
          <p:nvPr/>
        </p:nvSpPr>
        <p:spPr>
          <a:xfrm>
            <a:off x="817939" y="4458295"/>
            <a:ext cx="5121445" cy="228898"/>
          </a:xfrm>
          <a:prstGeom prst="rect">
            <a:avLst/>
          </a:prstGeom>
          <a:noFill/>
          <a:ln/>
        </p:spPr>
        <p:txBody>
          <a:bodyPr wrap="none" lIns="0" tIns="0" rIns="0" bIns="0" rtlCol="0" anchor="t"/>
          <a:lstStyle/>
          <a:p>
            <a:pPr algn="l" indent="0" marL="0">
              <a:lnSpc>
                <a:spcPct val="122000"/>
              </a:lnSpc>
              <a:buNone/>
            </a:pPr>
            <a:r>
              <a:rPr lang="en-US" sz="1200" dirty="0">
                <a:solidFill>
                  <a:srgbClr val="272525"/>
                </a:solidFill>
                <a:latin typeface="Inter" pitchFamily="34" charset="0"/>
                <a:ea typeface="Inter" pitchFamily="34" charset="-122"/>
                <a:cs typeface="Inter" pitchFamily="34" charset="-120"/>
              </a:rPr>
              <a:t>Logistic Regression, Random Forest, SVM</a:t>
            </a:r>
            <a:endParaRPr lang="en-US" sz="1200" dirty="0"/>
          </a:p>
        </p:txBody>
      </p:sp>
      <p:pic>
        <p:nvPicPr>
          <p:cNvPr id="14" name="Image 3" descr="preencoded.png">    </p:cNvPr>
          <p:cNvPicPr>
            <a:picLocks noChangeAspect="1"/>
          </p:cNvPicPr>
          <p:nvPr/>
        </p:nvPicPr>
        <p:blipFill>
          <a:blip r:embed="rId4"/>
          <a:stretch>
            <a:fillRect/>
          </a:stretch>
        </p:blipFill>
        <p:spPr>
          <a:xfrm>
            <a:off x="6095848" y="3380383"/>
            <a:ext cx="5434373" cy="626070"/>
          </a:xfrm>
          <a:prstGeom prst="rect">
            <a:avLst/>
          </a:prstGeom>
        </p:spPr>
      </p:pic>
      <p:sp>
        <p:nvSpPr>
          <p:cNvPr id="15" name="Text 9"/>
          <p:cNvSpPr/>
          <p:nvPr/>
        </p:nvSpPr>
        <p:spPr>
          <a:xfrm>
            <a:off x="6252312" y="4136033"/>
            <a:ext cx="5121445" cy="244574"/>
          </a:xfrm>
          <a:prstGeom prst="rect">
            <a:avLst/>
          </a:prstGeom>
          <a:noFill/>
          <a:ln/>
        </p:spPr>
        <p:txBody>
          <a:bodyPr wrap="none" lIns="0" tIns="0" rIns="0" bIns="0" rtlCol="0" anchor="t"/>
          <a:lstStyle/>
          <a:p>
            <a:pPr algn="l" indent="0" marL="0">
              <a:lnSpc>
                <a:spcPct val="104000"/>
              </a:lnSpc>
              <a:buNone/>
            </a:pPr>
            <a:r>
              <a:rPr lang="en-US" sz="1500" b="1" dirty="0">
                <a:solidFill>
                  <a:srgbClr val="272525"/>
                </a:solidFill>
                <a:latin typeface="Inter Bold" pitchFamily="34" charset="0"/>
                <a:ea typeface="Inter Bold" pitchFamily="34" charset="-122"/>
                <a:cs typeface="Inter Bold" pitchFamily="34" charset="-120"/>
              </a:rPr>
              <a:t>Model Evaluation</a:t>
            </a:r>
            <a:endParaRPr lang="en-US" sz="1500" dirty="0"/>
          </a:p>
        </p:txBody>
      </p:sp>
      <p:sp>
        <p:nvSpPr>
          <p:cNvPr id="16" name="Text 10"/>
          <p:cNvSpPr/>
          <p:nvPr/>
        </p:nvSpPr>
        <p:spPr>
          <a:xfrm>
            <a:off x="6252312" y="4458295"/>
            <a:ext cx="5121445" cy="228898"/>
          </a:xfrm>
          <a:prstGeom prst="rect">
            <a:avLst/>
          </a:prstGeom>
          <a:noFill/>
          <a:ln/>
        </p:spPr>
        <p:txBody>
          <a:bodyPr wrap="none" lIns="0" tIns="0" rIns="0" bIns="0" rtlCol="0" anchor="t"/>
          <a:lstStyle/>
          <a:p>
            <a:pPr algn="l" indent="0" marL="0">
              <a:lnSpc>
                <a:spcPct val="122000"/>
              </a:lnSpc>
              <a:buNone/>
            </a:pPr>
            <a:r>
              <a:rPr lang="en-US" sz="1200" dirty="0">
                <a:solidFill>
                  <a:srgbClr val="272525"/>
                </a:solidFill>
                <a:latin typeface="Inter" pitchFamily="34" charset="0"/>
                <a:ea typeface="Inter" pitchFamily="34" charset="-122"/>
                <a:cs typeface="Inter" pitchFamily="34" charset="-120"/>
              </a:rPr>
              <a:t>Evaluate using Accuracy, Precision, Recall and F1 Score</a:t>
            </a:r>
            <a:endParaRPr lang="en-US" sz="1200" dirty="0"/>
          </a:p>
        </p:txBody>
      </p:sp>
      <p:pic>
        <p:nvPicPr>
          <p:cNvPr id="17" name="Image 4" descr="preencoded.png">    </p:cNvPr>
          <p:cNvPicPr>
            <a:picLocks noChangeAspect="1"/>
          </p:cNvPicPr>
          <p:nvPr/>
        </p:nvPicPr>
        <p:blipFill>
          <a:blip r:embed="rId5"/>
          <a:stretch>
            <a:fillRect/>
          </a:stretch>
        </p:blipFill>
        <p:spPr>
          <a:xfrm>
            <a:off x="661475" y="4843661"/>
            <a:ext cx="5434373" cy="626070"/>
          </a:xfrm>
          <a:prstGeom prst="rect">
            <a:avLst/>
          </a:prstGeom>
        </p:spPr>
      </p:pic>
      <p:sp>
        <p:nvSpPr>
          <p:cNvPr id="18" name="Text 11"/>
          <p:cNvSpPr/>
          <p:nvPr/>
        </p:nvSpPr>
        <p:spPr>
          <a:xfrm>
            <a:off x="817939" y="5599311"/>
            <a:ext cx="5121445" cy="244574"/>
          </a:xfrm>
          <a:prstGeom prst="rect">
            <a:avLst/>
          </a:prstGeom>
          <a:noFill/>
          <a:ln/>
        </p:spPr>
        <p:txBody>
          <a:bodyPr wrap="none" lIns="0" tIns="0" rIns="0" bIns="0" rtlCol="0" anchor="t"/>
          <a:lstStyle/>
          <a:p>
            <a:pPr algn="l" indent="0" marL="0">
              <a:lnSpc>
                <a:spcPct val="104000"/>
              </a:lnSpc>
              <a:buNone/>
            </a:pPr>
            <a:r>
              <a:rPr lang="en-US" sz="1500" b="1" dirty="0">
                <a:solidFill>
                  <a:srgbClr val="272525"/>
                </a:solidFill>
                <a:latin typeface="Inter Bold" pitchFamily="34" charset="0"/>
                <a:ea typeface="Inter Bold" pitchFamily="34" charset="-122"/>
                <a:cs typeface="Inter Bold" pitchFamily="34" charset="-120"/>
              </a:rPr>
              <a:t>Deployment</a:t>
            </a:r>
            <a:endParaRPr lang="en-US" sz="1500" dirty="0"/>
          </a:p>
        </p:txBody>
      </p:sp>
      <p:sp>
        <p:nvSpPr>
          <p:cNvPr id="19" name="Text 12"/>
          <p:cNvSpPr/>
          <p:nvPr/>
        </p:nvSpPr>
        <p:spPr>
          <a:xfrm>
            <a:off x="817939" y="5921573"/>
            <a:ext cx="5121445" cy="228898"/>
          </a:xfrm>
          <a:prstGeom prst="rect">
            <a:avLst/>
          </a:prstGeom>
          <a:noFill/>
          <a:ln/>
        </p:spPr>
        <p:txBody>
          <a:bodyPr wrap="none" lIns="0" tIns="0" rIns="0" bIns="0" rtlCol="0" anchor="t"/>
          <a:lstStyle/>
          <a:p>
            <a:pPr algn="l" indent="0" marL="0">
              <a:lnSpc>
                <a:spcPct val="122000"/>
              </a:lnSpc>
              <a:buNone/>
            </a:pPr>
            <a:r>
              <a:rPr lang="en-US" sz="1200" dirty="0">
                <a:solidFill>
                  <a:srgbClr val="272525"/>
                </a:solidFill>
                <a:latin typeface="Inter" pitchFamily="34" charset="0"/>
                <a:ea typeface="Inter" pitchFamily="34" charset="-122"/>
                <a:cs typeface="Inter" pitchFamily="34" charset="-120"/>
              </a:rPr>
              <a:t>Build interactive interface and enable career prediction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80033"/>
            <a:ext cx="10868745" cy="544513"/>
          </a:xfrm>
          <a:prstGeom prst="rect">
            <a:avLst/>
          </a:prstGeom>
          <a:noFill/>
          <a:ln/>
        </p:spPr>
        <p:txBody>
          <a:bodyPr wrap="none" lIns="0" tIns="0" rIns="0" bIns="0" rtlCol="0" anchor="t"/>
          <a:lstStyle/>
          <a:p>
            <a:pPr algn="l" indent="0" marL="0">
              <a:lnSpc>
                <a:spcPct val="104000"/>
              </a:lnSpc>
              <a:buNone/>
            </a:pPr>
            <a:r>
              <a:rPr lang="en-US" sz="3400" b="1" dirty="0">
                <a:solidFill>
                  <a:srgbClr val="000000"/>
                </a:solidFill>
                <a:latin typeface="Inter Bold" pitchFamily="34" charset="0"/>
                <a:ea typeface="Inter Bold" pitchFamily="34" charset="-122"/>
                <a:cs typeface="Inter Bold" pitchFamily="34" charset="-120"/>
              </a:rPr>
              <a:t>MACHINE LEARNING MODELS</a:t>
            </a:r>
            <a:endParaRPr lang="en-US" sz="3400" dirty="0"/>
          </a:p>
        </p:txBody>
      </p:sp>
      <p:sp>
        <p:nvSpPr>
          <p:cNvPr id="3" name="Text 1"/>
          <p:cNvSpPr/>
          <p:nvPr/>
        </p:nvSpPr>
        <p:spPr>
          <a:xfrm>
            <a:off x="661475" y="1445816"/>
            <a:ext cx="11478330" cy="267791"/>
          </a:xfrm>
          <a:prstGeom prst="rect">
            <a:avLst/>
          </a:prstGeom>
          <a:noFill/>
          <a:ln/>
        </p:spPr>
        <p:txBody>
          <a:bodyPr wrap="none" lIns="0" tIns="0" rIns="0" bIns="0" rtlCol="0" anchor="t"/>
          <a:lstStyle/>
          <a:p>
            <a:pPr algn="l" indent="0" marL="0">
              <a:lnSpc>
                <a:spcPct val="128000"/>
              </a:lnSpc>
              <a:buNone/>
            </a:pPr>
            <a:r>
              <a:rPr lang="en-US" sz="1350" dirty="0">
                <a:solidFill>
                  <a:srgbClr val="272525"/>
                </a:solidFill>
                <a:latin typeface="Inter" pitchFamily="34" charset="0"/>
                <a:ea typeface="Inter" pitchFamily="34" charset="-122"/>
                <a:cs typeface="Inter" pitchFamily="34" charset="-120"/>
              </a:rPr>
              <a:t>Three approaches used to classify outcomes and compare career prediction performance</a:t>
            </a:r>
            <a:endParaRPr lang="en-US" sz="13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74962"/>
            <a:ext cx="3301818" cy="4022229"/>
          </a:xfrm>
          <a:prstGeom prst="rect">
            <a:avLst/>
          </a:prstGeom>
        </p:spPr>
      </p:pic>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07760" y="2231727"/>
            <a:ext cx="209049" cy="209054"/>
          </a:xfrm>
          <a:prstGeom prst="rect">
            <a:avLst/>
          </a:prstGeom>
        </p:spPr>
      </p:pic>
      <p:sp>
        <p:nvSpPr>
          <p:cNvPr id="6" name="Text 2"/>
          <p:cNvSpPr/>
          <p:nvPr/>
        </p:nvSpPr>
        <p:spPr>
          <a:xfrm>
            <a:off x="854748" y="2771874"/>
            <a:ext cx="2915272" cy="272157"/>
          </a:xfrm>
          <a:prstGeom prst="rect">
            <a:avLst/>
          </a:prstGeom>
          <a:noFill/>
          <a:ln/>
        </p:spPr>
        <p:txBody>
          <a:bodyPr wrap="none" lIns="0" tIns="0" rIns="0" bIns="0" rtlCol="0" anchor="t"/>
          <a:lstStyle/>
          <a:p>
            <a:pPr algn="l" indent="0" marL="0">
              <a:lnSpc>
                <a:spcPct val="104000"/>
              </a:lnSpc>
              <a:buNone/>
            </a:pPr>
            <a:r>
              <a:rPr lang="en-US" sz="1700" b="1" dirty="0">
                <a:solidFill>
                  <a:srgbClr val="272525"/>
                </a:solidFill>
                <a:latin typeface="Inter Bold" pitchFamily="34" charset="0"/>
                <a:ea typeface="Inter Bold" pitchFamily="34" charset="-122"/>
                <a:cs typeface="Inter Bold" pitchFamily="34" charset="-120"/>
              </a:rPr>
              <a:t>Random Forest</a:t>
            </a:r>
            <a:endParaRPr lang="en-US" sz="1700" dirty="0"/>
          </a:p>
        </p:txBody>
      </p:sp>
      <p:sp>
        <p:nvSpPr>
          <p:cNvPr id="7" name="Text 3"/>
          <p:cNvSpPr/>
          <p:nvPr/>
        </p:nvSpPr>
        <p:spPr>
          <a:xfrm>
            <a:off x="854748" y="3204666"/>
            <a:ext cx="2915272" cy="2699246"/>
          </a:xfrm>
          <a:prstGeom prst="rect">
            <a:avLst/>
          </a:prstGeom>
          <a:noFill/>
          <a:ln/>
        </p:spPr>
        <p:txBody>
          <a:bodyPr wrap="square" lIns="0" tIns="0" rIns="0" bIns="0" rtlCol="0" anchor="t">
            <a:normAutofit/>
          </a:bodyPr>
          <a:lstStyle/>
          <a:p>
            <a:pPr algn="l" indent="0" marL="0">
              <a:lnSpc>
                <a:spcPct val="128000"/>
              </a:lnSpc>
              <a:buNone/>
            </a:pPr>
            <a:r>
              <a:rPr lang="en-US" sz="1350" b="1" dirty="0">
                <a:solidFill>
                  <a:srgbClr val="272525"/>
                </a:solidFill>
                <a:latin typeface="Inter Bold" pitchFamily="34" charset="0"/>
                <a:ea typeface="Inter Bold" pitchFamily="34" charset="-122"/>
                <a:cs typeface="Inter Bold" pitchFamily="34" charset="-120"/>
              </a:rPr>
              <a:t>Many Trees</a:t>
            </a:r>
            <a:pPr algn="l" indent="0" marL="0">
              <a:lnSpc>
                <a:spcPct val="128000"/>
              </a:lnSpc>
              <a:spcAft>
                <a:spcPts val="1100"/>
              </a:spcAft>
              <a:buNone/>
            </a:pPr>
            <a:r>
              <a:rPr lang="en-US" sz="1350" dirty="0">
                <a:solidFill>
                  <a:srgbClr val="272525"/>
                </a:solidFill>
                <a:latin typeface="Inter" pitchFamily="34" charset="0"/>
                <a:ea typeface="Inter" pitchFamily="34" charset="-122"/>
                <a:cs typeface="Inter" pitchFamily="34" charset="-120"/>
              </a:rPr>
              <a:t>: Random Forest uses many decision trees to make better predictions.</a:t>
            </a:r>
            <a:endParaRPr lang="en-US" sz="1350" dirty="0"/>
          </a:p>
          <a:p>
            <a:pPr algn="l" indent="0" marL="0">
              <a:lnSpc>
                <a:spcPct val="128000"/>
              </a:lnSpc>
              <a:buNone/>
            </a:pPr>
            <a:r>
              <a:rPr lang="en-US" sz="1350" b="1" dirty="0">
                <a:solidFill>
                  <a:srgbClr val="272525"/>
                </a:solidFill>
                <a:latin typeface="Inter Bold" pitchFamily="34" charset="0"/>
                <a:ea typeface="Inter Bold" pitchFamily="34" charset="-122"/>
                <a:cs typeface="Inter Bold" pitchFamily="34" charset="-120"/>
              </a:rPr>
              <a:t>Random Choices</a:t>
            </a:r>
            <a:pPr algn="l" indent="0" marL="0">
              <a:lnSpc>
                <a:spcPct val="128000"/>
              </a:lnSpc>
              <a:spcAft>
                <a:spcPts val="1100"/>
              </a:spcAft>
              <a:buNone/>
            </a:pPr>
            <a:r>
              <a:rPr lang="en-US" sz="1350" dirty="0">
                <a:solidFill>
                  <a:srgbClr val="272525"/>
                </a:solidFill>
                <a:latin typeface="Inter" pitchFamily="34" charset="0"/>
                <a:ea typeface="Inter" pitchFamily="34" charset="-122"/>
                <a:cs typeface="Inter" pitchFamily="34" charset="-120"/>
              </a:rPr>
              <a:t>: It picks random data and features to build each tree, making the model stronger.</a:t>
            </a:r>
            <a:endParaRPr lang="en-US" sz="1350" dirty="0"/>
          </a:p>
          <a:p>
            <a:pPr algn="l" indent="0" marL="0">
              <a:lnSpc>
                <a:spcPct val="128000"/>
              </a:lnSpc>
              <a:buNone/>
            </a:pPr>
            <a:r>
              <a:rPr lang="en-US" sz="1350" b="1" dirty="0">
                <a:solidFill>
                  <a:srgbClr val="272525"/>
                </a:solidFill>
                <a:latin typeface="Inter Bold" pitchFamily="34" charset="0"/>
                <a:ea typeface="Inter Bold" pitchFamily="34" charset="-122"/>
                <a:cs typeface="Inter Bold" pitchFamily="34" charset="-120"/>
              </a:rPr>
              <a:t>Better Results</a:t>
            </a:r>
            <a:pPr algn="l" indent="0" marL="0">
              <a:lnSpc>
                <a:spcPct val="128000"/>
              </a:lnSpc>
              <a:buNone/>
            </a:pPr>
            <a:r>
              <a:rPr lang="en-US" sz="1350" dirty="0">
                <a:solidFill>
                  <a:srgbClr val="272525"/>
                </a:solidFill>
                <a:latin typeface="Inter" pitchFamily="34" charset="0"/>
                <a:ea typeface="Inter" pitchFamily="34" charset="-122"/>
                <a:cs typeface="Inter" pitchFamily="34" charset="-120"/>
              </a:rPr>
              <a:t>: It gives accurate results and works well even if some data is missing.</a:t>
            </a:r>
            <a:endParaRPr lang="en-US" sz="135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94685" y="2074962"/>
            <a:ext cx="3414826" cy="4022229"/>
          </a:xfrm>
          <a:prstGeom prst="rect">
            <a:avLst/>
          </a:prstGeom>
        </p:spPr>
      </p:pic>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97524" y="2231727"/>
            <a:ext cx="209049" cy="209054"/>
          </a:xfrm>
          <a:prstGeom prst="rect">
            <a:avLst/>
          </a:prstGeom>
        </p:spPr>
      </p:pic>
      <p:sp>
        <p:nvSpPr>
          <p:cNvPr id="10" name="Text 4"/>
          <p:cNvSpPr/>
          <p:nvPr/>
        </p:nvSpPr>
        <p:spPr>
          <a:xfrm>
            <a:off x="4587959" y="2771874"/>
            <a:ext cx="3028279" cy="272157"/>
          </a:xfrm>
          <a:prstGeom prst="rect">
            <a:avLst/>
          </a:prstGeom>
          <a:noFill/>
          <a:ln/>
        </p:spPr>
        <p:txBody>
          <a:bodyPr wrap="none" lIns="0" tIns="0" rIns="0" bIns="0" rtlCol="0" anchor="t"/>
          <a:lstStyle/>
          <a:p>
            <a:pPr algn="l" indent="0" marL="0">
              <a:lnSpc>
                <a:spcPct val="104000"/>
              </a:lnSpc>
              <a:buNone/>
            </a:pPr>
            <a:r>
              <a:rPr lang="en-US" sz="1700" b="1" dirty="0">
                <a:solidFill>
                  <a:srgbClr val="272525"/>
                </a:solidFill>
                <a:latin typeface="Inter Bold" pitchFamily="34" charset="0"/>
                <a:ea typeface="Inter Bold" pitchFamily="34" charset="-122"/>
                <a:cs typeface="Inter Bold" pitchFamily="34" charset="-120"/>
              </a:rPr>
              <a:t>Logistic Regression</a:t>
            </a:r>
            <a:endParaRPr lang="en-US" sz="1700" dirty="0"/>
          </a:p>
        </p:txBody>
      </p:sp>
      <p:sp>
        <p:nvSpPr>
          <p:cNvPr id="11" name="Text 5"/>
          <p:cNvSpPr/>
          <p:nvPr/>
        </p:nvSpPr>
        <p:spPr>
          <a:xfrm>
            <a:off x="4587959" y="3204666"/>
            <a:ext cx="3028279" cy="2699246"/>
          </a:xfrm>
          <a:prstGeom prst="rect">
            <a:avLst/>
          </a:prstGeom>
          <a:noFill/>
          <a:ln/>
        </p:spPr>
        <p:txBody>
          <a:bodyPr wrap="square" lIns="0" tIns="0" rIns="0" bIns="0" rtlCol="0" anchor="t">
            <a:normAutofit/>
          </a:bodyPr>
          <a:lstStyle/>
          <a:p>
            <a:pPr algn="l" indent="0" marL="0">
              <a:lnSpc>
                <a:spcPct val="128000"/>
              </a:lnSpc>
              <a:buNone/>
            </a:pPr>
            <a:r>
              <a:rPr lang="en-US" sz="1350" b="1" dirty="0">
                <a:solidFill>
                  <a:srgbClr val="272525"/>
                </a:solidFill>
                <a:latin typeface="Inter Bold" pitchFamily="34" charset="0"/>
                <a:ea typeface="Inter Bold" pitchFamily="34" charset="-122"/>
                <a:cs typeface="Inter Bold" pitchFamily="34" charset="-120"/>
              </a:rPr>
              <a:t>Predicts Yes or No</a:t>
            </a:r>
            <a:pPr algn="l" indent="0" marL="0">
              <a:lnSpc>
                <a:spcPct val="128000"/>
              </a:lnSpc>
              <a:spcAft>
                <a:spcPts val="1100"/>
              </a:spcAft>
              <a:buNone/>
            </a:pPr>
            <a:r>
              <a:rPr lang="en-US" sz="1350" dirty="0">
                <a:solidFill>
                  <a:srgbClr val="272525"/>
                </a:solidFill>
                <a:latin typeface="Inter" pitchFamily="34" charset="0"/>
                <a:ea typeface="Inter" pitchFamily="34" charset="-122"/>
                <a:cs typeface="Inter" pitchFamily="34" charset="-120"/>
              </a:rPr>
              <a:t>: Logistic Regression estimates the chance of an outcome in two categories.</a:t>
            </a:r>
            <a:endParaRPr lang="en-US" sz="1350" dirty="0"/>
          </a:p>
          <a:p>
            <a:pPr algn="l" indent="0" marL="0">
              <a:lnSpc>
                <a:spcPct val="128000"/>
              </a:lnSpc>
              <a:buNone/>
            </a:pPr>
            <a:r>
              <a:rPr lang="en-US" sz="1350" b="1" dirty="0">
                <a:solidFill>
                  <a:srgbClr val="272525"/>
                </a:solidFill>
                <a:latin typeface="Inter Bold" pitchFamily="34" charset="0"/>
                <a:ea typeface="Inter Bold" pitchFamily="34" charset="-122"/>
                <a:cs typeface="Inter Bold" pitchFamily="34" charset="-120"/>
              </a:rPr>
              <a:t>Uses Probabilities</a:t>
            </a:r>
            <a:pPr algn="l" indent="0" marL="0">
              <a:lnSpc>
                <a:spcPct val="128000"/>
              </a:lnSpc>
              <a:spcAft>
                <a:spcPts val="1100"/>
              </a:spcAft>
              <a:buNone/>
            </a:pPr>
            <a:r>
              <a:rPr lang="en-US" sz="1350" dirty="0">
                <a:solidFill>
                  <a:srgbClr val="272525"/>
                </a:solidFill>
                <a:latin typeface="Inter" pitchFamily="34" charset="0"/>
                <a:ea typeface="Inter" pitchFamily="34" charset="-122"/>
                <a:cs typeface="Inter" pitchFamily="34" charset="-120"/>
              </a:rPr>
              <a:t>: It outputs probabilities to help classify results more confidently.</a:t>
            </a:r>
            <a:endParaRPr lang="en-US" sz="1350" dirty="0"/>
          </a:p>
          <a:p>
            <a:pPr algn="l" indent="0" marL="0">
              <a:lnSpc>
                <a:spcPct val="128000"/>
              </a:lnSpc>
              <a:buNone/>
            </a:pPr>
            <a:r>
              <a:rPr lang="en-US" sz="1350" b="1" dirty="0">
                <a:solidFill>
                  <a:srgbClr val="272525"/>
                </a:solidFill>
                <a:latin typeface="Inter Bold" pitchFamily="34" charset="0"/>
                <a:ea typeface="Inter Bold" pitchFamily="34" charset="-122"/>
                <a:cs typeface="Inter Bold" pitchFamily="34" charset="-120"/>
              </a:rPr>
              <a:t>Draws a Curve</a:t>
            </a:r>
            <a:pPr algn="l" indent="0" marL="0">
              <a:lnSpc>
                <a:spcPct val="128000"/>
              </a:lnSpc>
              <a:buNone/>
            </a:pPr>
            <a:r>
              <a:rPr lang="en-US" sz="1350" dirty="0">
                <a:solidFill>
                  <a:srgbClr val="272525"/>
                </a:solidFill>
                <a:latin typeface="Inter" pitchFamily="34" charset="0"/>
                <a:ea typeface="Inter" pitchFamily="34" charset="-122"/>
                <a:cs typeface="Inter" pitchFamily="34" charset="-120"/>
              </a:rPr>
              <a:t>: It uses a sigmoid curve to separate outcomes smoothly.</a:t>
            </a:r>
            <a:endParaRPr lang="en-US" sz="1350" dirty="0"/>
          </a:p>
        </p:txBody>
      </p:sp>
      <p:pic>
        <p:nvPicPr>
          <p:cNvPr id="1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40903" y="2074962"/>
            <a:ext cx="3301818" cy="3754438"/>
          </a:xfrm>
          <a:prstGeom prst="rect">
            <a:avLst/>
          </a:prstGeom>
        </p:spPr>
      </p:pic>
      <p:pic>
        <p:nvPicPr>
          <p:cNvPr id="1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787189" y="2231727"/>
            <a:ext cx="209049" cy="209054"/>
          </a:xfrm>
          <a:prstGeom prst="rect">
            <a:avLst/>
          </a:prstGeom>
        </p:spPr>
      </p:pic>
      <p:sp>
        <p:nvSpPr>
          <p:cNvPr id="14" name="Text 6"/>
          <p:cNvSpPr/>
          <p:nvPr/>
        </p:nvSpPr>
        <p:spPr>
          <a:xfrm>
            <a:off x="8434177" y="2771874"/>
            <a:ext cx="2915272" cy="272157"/>
          </a:xfrm>
          <a:prstGeom prst="rect">
            <a:avLst/>
          </a:prstGeom>
          <a:noFill/>
          <a:ln/>
        </p:spPr>
        <p:txBody>
          <a:bodyPr wrap="none" lIns="0" tIns="0" rIns="0" bIns="0" rtlCol="0" anchor="t"/>
          <a:lstStyle/>
          <a:p>
            <a:pPr algn="l" indent="0" marL="0">
              <a:lnSpc>
                <a:spcPct val="104000"/>
              </a:lnSpc>
              <a:buNone/>
            </a:pPr>
            <a:r>
              <a:rPr lang="en-US" sz="1700" b="1" dirty="0">
                <a:solidFill>
                  <a:srgbClr val="272525"/>
                </a:solidFill>
                <a:latin typeface="Inter Bold" pitchFamily="34" charset="0"/>
                <a:ea typeface="Inter Bold" pitchFamily="34" charset="-122"/>
                <a:cs typeface="Inter Bold" pitchFamily="34" charset="-120"/>
              </a:rPr>
              <a:t>SVM</a:t>
            </a:r>
            <a:endParaRPr lang="en-US" sz="1700" dirty="0"/>
          </a:p>
        </p:txBody>
      </p:sp>
      <p:sp>
        <p:nvSpPr>
          <p:cNvPr id="15" name="Text 7"/>
          <p:cNvSpPr/>
          <p:nvPr/>
        </p:nvSpPr>
        <p:spPr>
          <a:xfrm>
            <a:off x="8434177" y="3204666"/>
            <a:ext cx="2915272" cy="2431455"/>
          </a:xfrm>
          <a:prstGeom prst="rect">
            <a:avLst/>
          </a:prstGeom>
          <a:noFill/>
          <a:ln/>
        </p:spPr>
        <p:txBody>
          <a:bodyPr wrap="square" lIns="0" tIns="0" rIns="0" bIns="0" rtlCol="0" anchor="t">
            <a:normAutofit/>
          </a:bodyPr>
          <a:lstStyle/>
          <a:p>
            <a:pPr algn="l" indent="0" marL="0">
              <a:lnSpc>
                <a:spcPct val="128000"/>
              </a:lnSpc>
              <a:buNone/>
            </a:pPr>
            <a:r>
              <a:rPr lang="en-US" sz="1350" b="1" dirty="0">
                <a:solidFill>
                  <a:srgbClr val="272525"/>
                </a:solidFill>
                <a:latin typeface="Inter Bold" pitchFamily="34" charset="0"/>
                <a:ea typeface="Inter Bold" pitchFamily="34" charset="-122"/>
                <a:cs typeface="Inter Bold" pitchFamily="34" charset="-120"/>
              </a:rPr>
              <a:t>Draws a Line</a:t>
            </a:r>
            <a:pPr algn="l" indent="0" marL="0">
              <a:lnSpc>
                <a:spcPct val="128000"/>
              </a:lnSpc>
              <a:spcAft>
                <a:spcPts val="1100"/>
              </a:spcAft>
              <a:buNone/>
            </a:pPr>
            <a:r>
              <a:rPr lang="en-US" sz="1350" dirty="0">
                <a:solidFill>
                  <a:srgbClr val="272525"/>
                </a:solidFill>
                <a:latin typeface="Inter" pitchFamily="34" charset="0"/>
                <a:ea typeface="Inter" pitchFamily="34" charset="-122"/>
                <a:cs typeface="Inter" pitchFamily="34" charset="-120"/>
              </a:rPr>
              <a:t>: SVM finds the best boundary that separates classes.</a:t>
            </a:r>
            <a:endParaRPr lang="en-US" sz="1350" dirty="0"/>
          </a:p>
          <a:p>
            <a:pPr algn="l" indent="0" marL="0">
              <a:lnSpc>
                <a:spcPct val="128000"/>
              </a:lnSpc>
              <a:buNone/>
            </a:pPr>
            <a:r>
              <a:rPr lang="en-US" sz="1350" b="1" dirty="0">
                <a:solidFill>
                  <a:srgbClr val="272525"/>
                </a:solidFill>
                <a:latin typeface="Inter Bold" pitchFamily="34" charset="0"/>
                <a:ea typeface="Inter Bold" pitchFamily="34" charset="-122"/>
                <a:cs typeface="Inter Bold" pitchFamily="34" charset="-120"/>
              </a:rPr>
              <a:t>Focuses on Borders</a:t>
            </a:r>
            <a:pPr algn="l" indent="0" marL="0">
              <a:lnSpc>
                <a:spcPct val="128000"/>
              </a:lnSpc>
              <a:spcAft>
                <a:spcPts val="1100"/>
              </a:spcAft>
              <a:buNone/>
            </a:pPr>
            <a:r>
              <a:rPr lang="en-US" sz="1350" dirty="0">
                <a:solidFill>
                  <a:srgbClr val="272525"/>
                </a:solidFill>
                <a:latin typeface="Inter" pitchFamily="34" charset="0"/>
                <a:ea typeface="Inter" pitchFamily="34" charset="-122"/>
                <a:cs typeface="Inter" pitchFamily="34" charset="-120"/>
              </a:rPr>
              <a:t>: It pays special attention to the closest points near the margin.</a:t>
            </a:r>
            <a:endParaRPr lang="en-US" sz="1350" dirty="0"/>
          </a:p>
          <a:p>
            <a:pPr algn="l" indent="0" marL="0">
              <a:lnSpc>
                <a:spcPct val="128000"/>
              </a:lnSpc>
              <a:buNone/>
            </a:pPr>
            <a:r>
              <a:rPr lang="en-US" sz="1350" b="1" dirty="0">
                <a:solidFill>
                  <a:srgbClr val="272525"/>
                </a:solidFill>
                <a:latin typeface="Inter Bold" pitchFamily="34" charset="0"/>
                <a:ea typeface="Inter Bold" pitchFamily="34" charset="-122"/>
                <a:cs typeface="Inter Bold" pitchFamily="34" charset="-120"/>
              </a:rPr>
              <a:t>Works Well with Complex Data</a:t>
            </a:r>
            <a:pPr algn="l" indent="0" marL="0">
              <a:lnSpc>
                <a:spcPct val="128000"/>
              </a:lnSpc>
              <a:buNone/>
            </a:pPr>
            <a:r>
              <a:rPr lang="en-US" sz="1350" dirty="0">
                <a:solidFill>
                  <a:srgbClr val="272525"/>
                </a:solidFill>
                <a:latin typeface="Inter" pitchFamily="34" charset="0"/>
                <a:ea typeface="Inter" pitchFamily="34" charset="-122"/>
                <a:cs typeface="Inter" pitchFamily="34" charset="-120"/>
              </a:rPr>
              <a:t>: It can handle difficult patterns using powerful boundaries.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61475" y="1258689"/>
            <a:ext cx="1032841" cy="287139"/>
          </a:xfrm>
          <a:prstGeom prst="roundRect">
            <a:avLst>
              <a:gd name="adj" fmla="val 22118"/>
            </a:avLst>
          </a:prstGeom>
          <a:noFill/>
          <a:ln w="6350">
            <a:solidFill>
              <a:srgbClr val="4950BC"/>
            </a:solidFill>
            <a:prstDash val="solid"/>
          </a:ln>
        </p:spPr>
      </p:sp>
      <p:sp>
        <p:nvSpPr>
          <p:cNvPr id="3" name="Text 1"/>
          <p:cNvSpPr/>
          <p:nvPr/>
        </p:nvSpPr>
        <p:spPr>
          <a:xfrm>
            <a:off x="774879" y="1315343"/>
            <a:ext cx="1415618" cy="173831"/>
          </a:xfrm>
          <a:prstGeom prst="rect">
            <a:avLst/>
          </a:prstGeom>
          <a:noFill/>
          <a:ln/>
        </p:spPr>
        <p:txBody>
          <a:bodyPr wrap="none" lIns="0" tIns="0" rIns="0" bIns="0" rtlCol="0" anchor="t"/>
          <a:lstStyle/>
          <a:p>
            <a:pPr algn="l" indent="0" marL="0">
              <a:lnSpc>
                <a:spcPct val="96000"/>
              </a:lnSpc>
              <a:buNone/>
            </a:pPr>
            <a:r>
              <a:rPr lang="en-US" sz="1150" dirty="0">
                <a:solidFill>
                  <a:srgbClr val="4950BC"/>
                </a:solidFill>
                <a:latin typeface="Inter" pitchFamily="34" charset="0"/>
                <a:ea typeface="Inter" pitchFamily="34" charset="-122"/>
                <a:cs typeface="Inter" pitchFamily="34" charset="-120"/>
              </a:rPr>
              <a:t>SHINY APP</a:t>
            </a:r>
            <a:endParaRPr lang="en-US" sz="1150" dirty="0"/>
          </a:p>
        </p:txBody>
      </p:sp>
      <p:sp>
        <p:nvSpPr>
          <p:cNvPr id="4" name="Text 2"/>
          <p:cNvSpPr/>
          <p:nvPr/>
        </p:nvSpPr>
        <p:spPr>
          <a:xfrm>
            <a:off x="661475" y="162143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000000"/>
                </a:solidFill>
                <a:latin typeface="Inter Bold" pitchFamily="34" charset="0"/>
                <a:ea typeface="Inter Bold" pitchFamily="34" charset="-122"/>
                <a:cs typeface="Inter Bold" pitchFamily="34" charset="-120"/>
              </a:rPr>
              <a:t>SHINY APP STRUCTURE &amp; FEATURES</a:t>
            </a:r>
            <a:endParaRPr lang="en-US" sz="3700" dirty="0"/>
          </a:p>
        </p:txBody>
      </p:sp>
      <p:sp>
        <p:nvSpPr>
          <p:cNvPr id="5" name="Text 3"/>
          <p:cNvSpPr/>
          <p:nvPr/>
        </p:nvSpPr>
        <p:spPr>
          <a:xfrm>
            <a:off x="661475" y="2495550"/>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Three core tabs that guide users from input to prediction insights</a:t>
            </a:r>
            <a:endParaRPr lang="en-US" sz="14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010595"/>
            <a:ext cx="3496877" cy="2588716"/>
          </a:xfrm>
          <a:prstGeom prst="rect">
            <a:avLst/>
          </a:prstGeom>
        </p:spPr>
      </p:pic>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96410" y="3180655"/>
            <a:ext cx="226808" cy="226814"/>
          </a:xfrm>
          <a:prstGeom prst="rect">
            <a:avLst/>
          </a:prstGeom>
        </p:spPr>
      </p:pic>
      <p:sp>
        <p:nvSpPr>
          <p:cNvPr id="8" name="Text 4"/>
          <p:cNvSpPr/>
          <p:nvPr/>
        </p:nvSpPr>
        <p:spPr>
          <a:xfrm>
            <a:off x="875881" y="3766542"/>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272525"/>
                </a:solidFill>
                <a:latin typeface="Inter Bold" pitchFamily="34" charset="0"/>
                <a:ea typeface="Inter Bold" pitchFamily="34" charset="-122"/>
                <a:cs typeface="Inter Bold" pitchFamily="34" charset="-120"/>
              </a:rPr>
              <a:t>Home Tab</a:t>
            </a:r>
            <a:endParaRPr lang="en-US" sz="1850" dirty="0"/>
          </a:p>
        </p:txBody>
      </p:sp>
      <p:sp>
        <p:nvSpPr>
          <p:cNvPr id="9" name="Text 5"/>
          <p:cNvSpPr/>
          <p:nvPr/>
        </p:nvSpPr>
        <p:spPr>
          <a:xfrm>
            <a:off x="875881" y="4175224"/>
            <a:ext cx="3068065"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Users can enter basic details such as name, age, education level, and preferred industry.</a:t>
            </a:r>
            <a:endParaRPr lang="en-US" sz="14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47359" y="3010595"/>
            <a:ext cx="3496877" cy="2588716"/>
          </a:xfrm>
          <a:prstGeom prst="rect">
            <a:avLst/>
          </a:prstGeom>
        </p:spPr>
      </p:pic>
      <p:pic>
        <p:nvPicPr>
          <p:cNvPr id="1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82294" y="3180655"/>
            <a:ext cx="226808" cy="226814"/>
          </a:xfrm>
          <a:prstGeom prst="rect">
            <a:avLst/>
          </a:prstGeom>
        </p:spPr>
      </p:pic>
      <p:sp>
        <p:nvSpPr>
          <p:cNvPr id="12" name="Text 6"/>
          <p:cNvSpPr/>
          <p:nvPr/>
        </p:nvSpPr>
        <p:spPr>
          <a:xfrm>
            <a:off x="4561766" y="3766542"/>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272525"/>
                </a:solidFill>
                <a:latin typeface="Inter Bold" pitchFamily="34" charset="0"/>
                <a:ea typeface="Inter Bold" pitchFamily="34" charset="-122"/>
                <a:cs typeface="Inter Bold" pitchFamily="34" charset="-120"/>
              </a:rPr>
              <a:t>Predict Tab</a:t>
            </a:r>
            <a:endParaRPr lang="en-US" sz="1850" dirty="0"/>
          </a:p>
        </p:txBody>
      </p:sp>
      <p:sp>
        <p:nvSpPr>
          <p:cNvPr id="13" name="Text 7"/>
          <p:cNvSpPr/>
          <p:nvPr/>
        </p:nvSpPr>
        <p:spPr>
          <a:xfrm>
            <a:off x="4561766" y="4175224"/>
            <a:ext cx="3068065"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Allows users to input experience and skillset; displays visual outputs based on career prediction results.</a:t>
            </a:r>
            <a:endParaRPr lang="en-US" sz="1450" dirty="0"/>
          </a:p>
        </p:txBody>
      </p:sp>
      <p:pic>
        <p:nvPicPr>
          <p:cNvPr id="1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33244" y="3010595"/>
            <a:ext cx="3496877" cy="2588716"/>
          </a:xfrm>
          <a:prstGeom prst="rect">
            <a:avLst/>
          </a:prstGeom>
        </p:spPr>
      </p:pic>
      <p:pic>
        <p:nvPicPr>
          <p:cNvPr id="1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68179" y="3180655"/>
            <a:ext cx="226808" cy="226814"/>
          </a:xfrm>
          <a:prstGeom prst="rect">
            <a:avLst/>
          </a:prstGeom>
        </p:spPr>
      </p:pic>
      <p:sp>
        <p:nvSpPr>
          <p:cNvPr id="16" name="Text 8"/>
          <p:cNvSpPr/>
          <p:nvPr/>
        </p:nvSpPr>
        <p:spPr>
          <a:xfrm>
            <a:off x="8247650" y="3766542"/>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272525"/>
                </a:solidFill>
                <a:latin typeface="Inter Bold" pitchFamily="34" charset="0"/>
                <a:ea typeface="Inter Bold" pitchFamily="34" charset="-122"/>
                <a:cs typeface="Inter Bold" pitchFamily="34" charset="-120"/>
              </a:rPr>
              <a:t>Insights Tab</a:t>
            </a:r>
            <a:endParaRPr lang="en-US" sz="1850" dirty="0"/>
          </a:p>
        </p:txBody>
      </p:sp>
      <p:sp>
        <p:nvSpPr>
          <p:cNvPr id="17" name="Text 9"/>
          <p:cNvSpPr/>
          <p:nvPr/>
        </p:nvSpPr>
        <p:spPr>
          <a:xfrm>
            <a:off x="8247650" y="4175224"/>
            <a:ext cx="3068065"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Explains the purpose of the application and includes a feedback form for user suggestions.</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61475" y="534987"/>
            <a:ext cx="838874" cy="233263"/>
          </a:xfrm>
          <a:prstGeom prst="roundRect">
            <a:avLst>
              <a:gd name="adj" fmla="val 22122"/>
            </a:avLst>
          </a:prstGeom>
          <a:noFill/>
          <a:ln w="6350">
            <a:solidFill>
              <a:srgbClr val="4950BC"/>
            </a:solidFill>
            <a:prstDash val="solid"/>
          </a:ln>
        </p:spPr>
      </p:sp>
      <p:sp>
        <p:nvSpPr>
          <p:cNvPr id="3" name="Text 1"/>
          <p:cNvSpPr/>
          <p:nvPr/>
        </p:nvSpPr>
        <p:spPr>
          <a:xfrm>
            <a:off x="753548" y="581025"/>
            <a:ext cx="1264313" cy="141188"/>
          </a:xfrm>
          <a:prstGeom prst="rect">
            <a:avLst/>
          </a:prstGeom>
          <a:noFill/>
          <a:ln/>
        </p:spPr>
        <p:txBody>
          <a:bodyPr wrap="none" lIns="0" tIns="0" rIns="0" bIns="0" rtlCol="0" anchor="t"/>
          <a:lstStyle/>
          <a:p>
            <a:pPr algn="l" indent="0" marL="0">
              <a:lnSpc>
                <a:spcPct val="96000"/>
              </a:lnSpc>
              <a:buNone/>
            </a:pPr>
            <a:r>
              <a:rPr lang="en-US" sz="950" dirty="0">
                <a:solidFill>
                  <a:srgbClr val="4950BC"/>
                </a:solidFill>
                <a:latin typeface="Inter" pitchFamily="34" charset="0"/>
                <a:ea typeface="Inter" pitchFamily="34" charset="-122"/>
                <a:cs typeface="Inter" pitchFamily="34" charset="-120"/>
              </a:rPr>
              <a:t>SHINY APP</a:t>
            </a:r>
            <a:endParaRPr lang="en-US" sz="950" dirty="0"/>
          </a:p>
        </p:txBody>
      </p:sp>
      <p:sp>
        <p:nvSpPr>
          <p:cNvPr id="4" name="Text 2"/>
          <p:cNvSpPr/>
          <p:nvPr/>
        </p:nvSpPr>
        <p:spPr>
          <a:xfrm>
            <a:off x="661475" y="818158"/>
            <a:ext cx="10868745" cy="479921"/>
          </a:xfrm>
          <a:prstGeom prst="rect">
            <a:avLst/>
          </a:prstGeom>
          <a:noFill/>
          <a:ln/>
        </p:spPr>
        <p:txBody>
          <a:bodyPr wrap="none" lIns="0" tIns="0" rIns="0" bIns="0" rtlCol="0" anchor="t"/>
          <a:lstStyle/>
          <a:p>
            <a:pPr algn="l" indent="0" marL="0">
              <a:lnSpc>
                <a:spcPct val="104000"/>
              </a:lnSpc>
              <a:buNone/>
            </a:pPr>
            <a:r>
              <a:rPr lang="en-US" sz="3000" b="1" dirty="0">
                <a:solidFill>
                  <a:srgbClr val="000000"/>
                </a:solidFill>
                <a:latin typeface="Inter Bold" pitchFamily="34" charset="0"/>
                <a:ea typeface="Inter Bold" pitchFamily="34" charset="-122"/>
                <a:cs typeface="Inter Bold" pitchFamily="34" charset="-120"/>
              </a:rPr>
              <a:t>MODEL PERFORMANCE &amp; SELECTION</a:t>
            </a:r>
            <a:endParaRPr lang="en-US" sz="3000" dirty="0"/>
          </a:p>
        </p:txBody>
      </p:sp>
      <p:sp>
        <p:nvSpPr>
          <p:cNvPr id="5" name="Text 3"/>
          <p:cNvSpPr/>
          <p:nvPr/>
        </p:nvSpPr>
        <p:spPr>
          <a:xfrm>
            <a:off x="661475" y="1485205"/>
            <a:ext cx="11478330" cy="222647"/>
          </a:xfrm>
          <a:prstGeom prst="rect">
            <a:avLst/>
          </a:prstGeom>
          <a:noFill/>
          <a:ln/>
        </p:spPr>
        <p:txBody>
          <a:bodyPr wrap="none" lIns="0" tIns="0" rIns="0" bIns="0" rtlCol="0" anchor="t"/>
          <a:lstStyle/>
          <a:p>
            <a:pPr algn="l" indent="0" marL="0">
              <a:lnSpc>
                <a:spcPct val="121000"/>
              </a:lnSpc>
              <a:buNone/>
            </a:pPr>
            <a:r>
              <a:rPr lang="en-US" sz="1200" dirty="0">
                <a:solidFill>
                  <a:srgbClr val="272525"/>
                </a:solidFill>
                <a:latin typeface="Inter" pitchFamily="34" charset="0"/>
                <a:ea typeface="Inter" pitchFamily="34" charset="-122"/>
                <a:cs typeface="Inter" pitchFamily="34" charset="-120"/>
              </a:rPr>
              <a:t>A visual comparison of the three candidate machine learning models and the reason Logistic Regression was selected for deployment.</a:t>
            </a:r>
            <a:endParaRPr lang="en-US" sz="12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848148"/>
            <a:ext cx="3539739" cy="2139752"/>
          </a:xfrm>
          <a:prstGeom prst="rect">
            <a:avLst/>
          </a:prstGeom>
        </p:spPr>
      </p:pic>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39172" y="1986359"/>
            <a:ext cx="184245" cy="184249"/>
          </a:xfrm>
          <a:prstGeom prst="rect">
            <a:avLst/>
          </a:prstGeom>
        </p:spPr>
      </p:pic>
      <p:sp>
        <p:nvSpPr>
          <p:cNvPr id="8" name="Text 4"/>
          <p:cNvSpPr/>
          <p:nvPr/>
        </p:nvSpPr>
        <p:spPr>
          <a:xfrm>
            <a:off x="834012" y="2462312"/>
            <a:ext cx="3194665" cy="239911"/>
          </a:xfrm>
          <a:prstGeom prst="rect">
            <a:avLst/>
          </a:prstGeom>
          <a:noFill/>
          <a:ln/>
        </p:spPr>
        <p:txBody>
          <a:bodyPr wrap="none" lIns="0" tIns="0" rIns="0" bIns="0" rtlCol="0" anchor="t"/>
          <a:lstStyle/>
          <a:p>
            <a:pPr algn="l" indent="0" marL="0">
              <a:lnSpc>
                <a:spcPct val="104000"/>
              </a:lnSpc>
              <a:buNone/>
            </a:pPr>
            <a:r>
              <a:rPr lang="en-US" sz="1500" b="1" dirty="0">
                <a:solidFill>
                  <a:srgbClr val="272525"/>
                </a:solidFill>
                <a:latin typeface="Inter Bold" pitchFamily="34" charset="0"/>
                <a:ea typeface="Inter Bold" pitchFamily="34" charset="-122"/>
                <a:cs typeface="Inter Bold" pitchFamily="34" charset="-120"/>
              </a:rPr>
              <a:t>Random Forest</a:t>
            </a:r>
            <a:endParaRPr lang="en-US" sz="1500" dirty="0"/>
          </a:p>
        </p:txBody>
      </p:sp>
      <p:sp>
        <p:nvSpPr>
          <p:cNvPr id="9" name="Text 5"/>
          <p:cNvSpPr/>
          <p:nvPr/>
        </p:nvSpPr>
        <p:spPr>
          <a:xfrm>
            <a:off x="834012" y="2777034"/>
            <a:ext cx="3194665" cy="445294"/>
          </a:xfrm>
          <a:prstGeom prst="rect">
            <a:avLst/>
          </a:prstGeom>
          <a:noFill/>
          <a:ln/>
        </p:spPr>
        <p:txBody>
          <a:bodyPr wrap="square" lIns="0" tIns="0" rIns="0" bIns="0" rtlCol="0" anchor="t">
            <a:normAutofit/>
          </a:bodyPr>
          <a:lstStyle/>
          <a:p>
            <a:pPr algn="l" indent="0" marL="0">
              <a:lnSpc>
                <a:spcPct val="121000"/>
              </a:lnSpc>
              <a:buNone/>
            </a:pPr>
            <a:r>
              <a:rPr lang="en-US" sz="1200" b="1" dirty="0">
                <a:solidFill>
                  <a:srgbClr val="272525"/>
                </a:solidFill>
                <a:latin typeface="Inter Bold" pitchFamily="34" charset="0"/>
                <a:ea typeface="Inter Bold" pitchFamily="34" charset="-122"/>
                <a:cs typeface="Inter Bold" pitchFamily="34" charset="-120"/>
              </a:rPr>
              <a:t>Accuracy:</a:t>
            </a:r>
            <a:pPr algn="l" indent="0" marL="0">
              <a:lnSpc>
                <a:spcPct val="121000"/>
              </a:lnSpc>
              <a:buNone/>
            </a:pPr>
            <a:r>
              <a:rPr lang="en-US" sz="1200" dirty="0">
                <a:solidFill>
                  <a:srgbClr val="272525"/>
                </a:solidFill>
                <a:latin typeface="Inter" pitchFamily="34" charset="0"/>
                <a:ea typeface="Inter" pitchFamily="34" charset="-122"/>
                <a:cs typeface="Inter" pitchFamily="34" charset="-120"/>
              </a:rPr>
              <a:t> 73.6%</a:t>
            </a:r>
            <a:endParaRPr lang="en-US" sz="1200" dirty="0"/>
          </a:p>
          <a:p>
            <a:pPr algn="l" indent="0" marL="0">
              <a:lnSpc>
                <a:spcPct val="121000"/>
              </a:lnSpc>
              <a:buNone/>
            </a:pPr>
            <a:r>
              <a:rPr lang="en-US" sz="1200" b="1" dirty="0">
                <a:solidFill>
                  <a:srgbClr val="272525"/>
                </a:solidFill>
                <a:latin typeface="Inter Bold" pitchFamily="34" charset="0"/>
                <a:ea typeface="Inter Bold" pitchFamily="34" charset="-122"/>
                <a:cs typeface="Inter Bold" pitchFamily="34" charset="-120"/>
              </a:rPr>
              <a:t>F1 Score:</a:t>
            </a:r>
            <a:pPr algn="l" indent="0" marL="0">
              <a:lnSpc>
                <a:spcPct val="121000"/>
              </a:lnSpc>
              <a:buNone/>
            </a:pPr>
            <a:r>
              <a:rPr lang="en-US" sz="1200" dirty="0">
                <a:solidFill>
                  <a:srgbClr val="272525"/>
                </a:solidFill>
                <a:latin typeface="Inter" pitchFamily="34" charset="0"/>
                <a:ea typeface="Inter" pitchFamily="34" charset="-122"/>
                <a:cs typeface="Inter" pitchFamily="34" charset="-120"/>
              </a:rPr>
              <a:t> 0.735</a:t>
            </a:r>
            <a:endParaRPr lang="en-US" sz="12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25928" y="1848148"/>
            <a:ext cx="3539739" cy="2139752"/>
          </a:xfrm>
          <a:prstGeom prst="rect">
            <a:avLst/>
          </a:prstGeom>
        </p:spPr>
      </p:pic>
      <p:pic>
        <p:nvPicPr>
          <p:cNvPr id="1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03626" y="1986359"/>
            <a:ext cx="184245" cy="184249"/>
          </a:xfrm>
          <a:prstGeom prst="rect">
            <a:avLst/>
          </a:prstGeom>
        </p:spPr>
      </p:pic>
      <p:sp>
        <p:nvSpPr>
          <p:cNvPr id="12" name="Text 6"/>
          <p:cNvSpPr/>
          <p:nvPr/>
        </p:nvSpPr>
        <p:spPr>
          <a:xfrm>
            <a:off x="4498466" y="2462312"/>
            <a:ext cx="3194665" cy="239911"/>
          </a:xfrm>
          <a:prstGeom prst="rect">
            <a:avLst/>
          </a:prstGeom>
          <a:noFill/>
          <a:ln/>
        </p:spPr>
        <p:txBody>
          <a:bodyPr wrap="none" lIns="0" tIns="0" rIns="0" bIns="0" rtlCol="0" anchor="t"/>
          <a:lstStyle/>
          <a:p>
            <a:pPr algn="l" indent="0" marL="0">
              <a:lnSpc>
                <a:spcPct val="104000"/>
              </a:lnSpc>
              <a:buNone/>
            </a:pPr>
            <a:r>
              <a:rPr lang="en-US" sz="1500" b="1" dirty="0">
                <a:solidFill>
                  <a:srgbClr val="272525"/>
                </a:solidFill>
                <a:latin typeface="Inter Bold" pitchFamily="34" charset="0"/>
                <a:ea typeface="Inter Bold" pitchFamily="34" charset="-122"/>
                <a:cs typeface="Inter Bold" pitchFamily="34" charset="-120"/>
              </a:rPr>
              <a:t>Logistic Regression</a:t>
            </a:r>
            <a:endParaRPr lang="en-US" sz="1500" dirty="0"/>
          </a:p>
        </p:txBody>
      </p:sp>
      <p:sp>
        <p:nvSpPr>
          <p:cNvPr id="13" name="Text 7"/>
          <p:cNvSpPr/>
          <p:nvPr/>
        </p:nvSpPr>
        <p:spPr>
          <a:xfrm>
            <a:off x="4498466" y="2777034"/>
            <a:ext cx="3194665" cy="445294"/>
          </a:xfrm>
          <a:prstGeom prst="rect">
            <a:avLst/>
          </a:prstGeom>
          <a:noFill/>
          <a:ln/>
        </p:spPr>
        <p:txBody>
          <a:bodyPr wrap="square" lIns="0" tIns="0" rIns="0" bIns="0" rtlCol="0" anchor="t">
            <a:normAutofit/>
          </a:bodyPr>
          <a:lstStyle/>
          <a:p>
            <a:pPr algn="l" indent="0" marL="0">
              <a:lnSpc>
                <a:spcPct val="121000"/>
              </a:lnSpc>
              <a:buNone/>
            </a:pPr>
            <a:r>
              <a:rPr lang="en-US" sz="1200" b="1" dirty="0">
                <a:solidFill>
                  <a:srgbClr val="272525"/>
                </a:solidFill>
                <a:latin typeface="Inter Bold" pitchFamily="34" charset="0"/>
                <a:ea typeface="Inter Bold" pitchFamily="34" charset="-122"/>
                <a:cs typeface="Inter Bold" pitchFamily="34" charset="-120"/>
              </a:rPr>
              <a:t>Accuracy:</a:t>
            </a:r>
            <a:pPr algn="l" indent="0" marL="0">
              <a:lnSpc>
                <a:spcPct val="121000"/>
              </a:lnSpc>
              <a:buNone/>
            </a:pPr>
            <a:r>
              <a:rPr lang="en-US" sz="1200" dirty="0">
                <a:solidFill>
                  <a:srgbClr val="272525"/>
                </a:solidFill>
                <a:latin typeface="Inter" pitchFamily="34" charset="0"/>
                <a:ea typeface="Inter" pitchFamily="34" charset="-122"/>
                <a:cs typeface="Inter" pitchFamily="34" charset="-120"/>
              </a:rPr>
              <a:t> 80%</a:t>
            </a:r>
            <a:endParaRPr lang="en-US" sz="1200" dirty="0"/>
          </a:p>
          <a:p>
            <a:pPr algn="l" indent="0" marL="0">
              <a:lnSpc>
                <a:spcPct val="121000"/>
              </a:lnSpc>
              <a:buNone/>
            </a:pPr>
            <a:r>
              <a:rPr lang="en-US" sz="1200" b="1" dirty="0">
                <a:solidFill>
                  <a:srgbClr val="272525"/>
                </a:solidFill>
                <a:latin typeface="Inter Bold" pitchFamily="34" charset="0"/>
                <a:ea typeface="Inter Bold" pitchFamily="34" charset="-122"/>
                <a:cs typeface="Inter Bold" pitchFamily="34" charset="-120"/>
              </a:rPr>
              <a:t>F1 Score:</a:t>
            </a:r>
            <a:pPr algn="l" indent="0" marL="0">
              <a:lnSpc>
                <a:spcPct val="121000"/>
              </a:lnSpc>
              <a:buNone/>
            </a:pPr>
            <a:r>
              <a:rPr lang="en-US" sz="1200" dirty="0">
                <a:solidFill>
                  <a:srgbClr val="272525"/>
                </a:solidFill>
                <a:latin typeface="Inter" pitchFamily="34" charset="0"/>
                <a:ea typeface="Inter" pitchFamily="34" charset="-122"/>
                <a:cs typeface="Inter" pitchFamily="34" charset="-120"/>
              </a:rPr>
              <a:t> 0.80</a:t>
            </a:r>
            <a:endParaRPr lang="en-US" sz="1200" dirty="0"/>
          </a:p>
        </p:txBody>
      </p:sp>
      <p:sp>
        <p:nvSpPr>
          <p:cNvPr id="14" name="Shape 8"/>
          <p:cNvSpPr/>
          <p:nvPr/>
        </p:nvSpPr>
        <p:spPr>
          <a:xfrm>
            <a:off x="4498466" y="3362623"/>
            <a:ext cx="3194665" cy="452735"/>
          </a:xfrm>
          <a:prstGeom prst="roundRect">
            <a:avLst>
              <a:gd name="adj" fmla="val 14247"/>
            </a:avLst>
          </a:prstGeom>
          <a:solidFill>
            <a:srgbClr val="B6FCB8"/>
          </a:solidFill>
          <a:ln/>
        </p:spPr>
      </p:sp>
      <p:pic>
        <p:nvPicPr>
          <p:cNvPr id="15" name="Image 4" descr="preencoded.png">    </p:cNvPr>
          <p:cNvPicPr>
            <a:picLocks noChangeAspect="1"/>
          </p:cNvPicPr>
          <p:nvPr/>
        </p:nvPicPr>
        <p:blipFill>
          <a:blip r:embed="rId9"/>
          <a:stretch>
            <a:fillRect/>
          </a:stretch>
        </p:blipFill>
        <p:spPr>
          <a:xfrm>
            <a:off x="4651953" y="3585170"/>
            <a:ext cx="191884" cy="153491"/>
          </a:xfrm>
          <a:prstGeom prst="rect">
            <a:avLst/>
          </a:prstGeom>
        </p:spPr>
      </p:pic>
      <p:sp>
        <p:nvSpPr>
          <p:cNvPr id="16" name="Text 9"/>
          <p:cNvSpPr/>
          <p:nvPr/>
        </p:nvSpPr>
        <p:spPr>
          <a:xfrm>
            <a:off x="4997325" y="3475732"/>
            <a:ext cx="2542318" cy="222647"/>
          </a:xfrm>
          <a:prstGeom prst="rect">
            <a:avLst/>
          </a:prstGeom>
          <a:noFill/>
          <a:ln/>
        </p:spPr>
        <p:txBody>
          <a:bodyPr wrap="none" lIns="0" tIns="0" rIns="0" bIns="0" rtlCol="0" anchor="t"/>
          <a:lstStyle/>
          <a:p>
            <a:pPr algn="l" indent="0" marL="0">
              <a:lnSpc>
                <a:spcPct val="121000"/>
              </a:lnSpc>
              <a:buNone/>
            </a:pPr>
            <a:r>
              <a:rPr lang="en-US" sz="1200" dirty="0">
                <a:solidFill>
                  <a:srgbClr val="000000"/>
                </a:solidFill>
                <a:latin typeface="Inter" pitchFamily="34" charset="0"/>
                <a:ea typeface="Inter" pitchFamily="34" charset="-122"/>
                <a:cs typeface="Inter" pitchFamily="34" charset="-120"/>
              </a:rPr>
              <a:t>Chosen model</a:t>
            </a:r>
            <a:endParaRPr lang="en-US" sz="1200" dirty="0"/>
          </a:p>
        </p:txBody>
      </p:sp>
      <p:pic>
        <p:nvPicPr>
          <p:cNvPr id="17"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90382" y="1848148"/>
            <a:ext cx="3539739" cy="2139752"/>
          </a:xfrm>
          <a:prstGeom prst="rect">
            <a:avLst/>
          </a:prstGeom>
        </p:spPr>
      </p:pic>
      <p:pic>
        <p:nvPicPr>
          <p:cNvPr id="18"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668080" y="1986359"/>
            <a:ext cx="184245" cy="184249"/>
          </a:xfrm>
          <a:prstGeom prst="rect">
            <a:avLst/>
          </a:prstGeom>
        </p:spPr>
      </p:pic>
      <p:sp>
        <p:nvSpPr>
          <p:cNvPr id="19" name="Text 10"/>
          <p:cNvSpPr/>
          <p:nvPr/>
        </p:nvSpPr>
        <p:spPr>
          <a:xfrm>
            <a:off x="8162919" y="2462312"/>
            <a:ext cx="3194665" cy="239911"/>
          </a:xfrm>
          <a:prstGeom prst="rect">
            <a:avLst/>
          </a:prstGeom>
          <a:noFill/>
          <a:ln/>
        </p:spPr>
        <p:txBody>
          <a:bodyPr wrap="none" lIns="0" tIns="0" rIns="0" bIns="0" rtlCol="0" anchor="t"/>
          <a:lstStyle/>
          <a:p>
            <a:pPr algn="l" indent="0" marL="0">
              <a:lnSpc>
                <a:spcPct val="104000"/>
              </a:lnSpc>
              <a:buNone/>
            </a:pPr>
            <a:r>
              <a:rPr lang="en-US" sz="1500" b="1" dirty="0">
                <a:solidFill>
                  <a:srgbClr val="272525"/>
                </a:solidFill>
                <a:latin typeface="Inter Bold" pitchFamily="34" charset="0"/>
                <a:ea typeface="Inter Bold" pitchFamily="34" charset="-122"/>
                <a:cs typeface="Inter Bold" pitchFamily="34" charset="-120"/>
              </a:rPr>
              <a:t>SVM (Linear)</a:t>
            </a:r>
            <a:endParaRPr lang="en-US" sz="1500" dirty="0"/>
          </a:p>
        </p:txBody>
      </p:sp>
      <p:sp>
        <p:nvSpPr>
          <p:cNvPr id="20" name="Text 11"/>
          <p:cNvSpPr/>
          <p:nvPr/>
        </p:nvSpPr>
        <p:spPr>
          <a:xfrm>
            <a:off x="8162919" y="2777034"/>
            <a:ext cx="3194665" cy="445294"/>
          </a:xfrm>
          <a:prstGeom prst="rect">
            <a:avLst/>
          </a:prstGeom>
          <a:noFill/>
          <a:ln/>
        </p:spPr>
        <p:txBody>
          <a:bodyPr wrap="square" lIns="0" tIns="0" rIns="0" bIns="0" rtlCol="0" anchor="t">
            <a:normAutofit/>
          </a:bodyPr>
          <a:lstStyle/>
          <a:p>
            <a:pPr algn="l" indent="0" marL="0">
              <a:lnSpc>
                <a:spcPct val="121000"/>
              </a:lnSpc>
              <a:buNone/>
            </a:pPr>
            <a:r>
              <a:rPr lang="en-US" sz="1200" b="1" dirty="0">
                <a:solidFill>
                  <a:srgbClr val="272525"/>
                </a:solidFill>
                <a:latin typeface="Inter Bold" pitchFamily="34" charset="0"/>
                <a:ea typeface="Inter Bold" pitchFamily="34" charset="-122"/>
                <a:cs typeface="Inter Bold" pitchFamily="34" charset="-120"/>
              </a:rPr>
              <a:t>Accuracy:</a:t>
            </a:r>
            <a:pPr algn="l" indent="0" marL="0">
              <a:lnSpc>
                <a:spcPct val="121000"/>
              </a:lnSpc>
              <a:buNone/>
            </a:pPr>
            <a:r>
              <a:rPr lang="en-US" sz="1200" dirty="0">
                <a:solidFill>
                  <a:srgbClr val="272525"/>
                </a:solidFill>
                <a:latin typeface="Inter" pitchFamily="34" charset="0"/>
                <a:ea typeface="Inter" pitchFamily="34" charset="-122"/>
                <a:cs typeface="Inter" pitchFamily="34" charset="-120"/>
              </a:rPr>
              <a:t> 80%</a:t>
            </a:r>
            <a:endParaRPr lang="en-US" sz="1200" dirty="0"/>
          </a:p>
          <a:p>
            <a:pPr algn="l" indent="0" marL="0">
              <a:lnSpc>
                <a:spcPct val="121000"/>
              </a:lnSpc>
              <a:buNone/>
            </a:pPr>
            <a:r>
              <a:rPr lang="en-US" sz="1200" b="1" dirty="0">
                <a:solidFill>
                  <a:srgbClr val="272525"/>
                </a:solidFill>
                <a:latin typeface="Inter Bold" pitchFamily="34" charset="0"/>
                <a:ea typeface="Inter Bold" pitchFamily="34" charset="-122"/>
                <a:cs typeface="Inter Bold" pitchFamily="34" charset="-120"/>
              </a:rPr>
              <a:t>F1 Score:</a:t>
            </a:r>
            <a:pPr algn="l" indent="0" marL="0">
              <a:lnSpc>
                <a:spcPct val="121000"/>
              </a:lnSpc>
              <a:buNone/>
            </a:pPr>
            <a:r>
              <a:rPr lang="en-US" sz="1200" dirty="0">
                <a:solidFill>
                  <a:srgbClr val="272525"/>
                </a:solidFill>
                <a:latin typeface="Inter" pitchFamily="34" charset="0"/>
                <a:ea typeface="Inter" pitchFamily="34" charset="-122"/>
                <a:cs typeface="Inter" pitchFamily="34" charset="-120"/>
              </a:rPr>
              <a:t> 0.80</a:t>
            </a:r>
            <a:endParaRPr lang="en-US" sz="1200" dirty="0"/>
          </a:p>
        </p:txBody>
      </p:sp>
      <p:sp>
        <p:nvSpPr>
          <p:cNvPr id="21" name="Shape 12"/>
          <p:cNvSpPr/>
          <p:nvPr/>
        </p:nvSpPr>
        <p:spPr>
          <a:xfrm>
            <a:off x="661475" y="4166493"/>
            <a:ext cx="10868745" cy="19050"/>
          </a:xfrm>
          <a:prstGeom prst="roundRect">
            <a:avLst>
              <a:gd name="adj" fmla="val 59999"/>
            </a:avLst>
          </a:prstGeom>
          <a:solidFill>
            <a:srgbClr val="272525">
              <a:alpha val="50000"/>
            </a:srgbClr>
          </a:solidFill>
          <a:ln/>
        </p:spPr>
      </p:sp>
      <p:sp>
        <p:nvSpPr>
          <p:cNvPr id="22" name="Text 13"/>
          <p:cNvSpPr/>
          <p:nvPr/>
        </p:nvSpPr>
        <p:spPr>
          <a:xfrm>
            <a:off x="661475" y="4410968"/>
            <a:ext cx="10868745" cy="383977"/>
          </a:xfrm>
          <a:prstGeom prst="rect">
            <a:avLst/>
          </a:prstGeom>
          <a:noFill/>
          <a:ln/>
        </p:spPr>
        <p:txBody>
          <a:bodyPr wrap="none" lIns="0" tIns="0" rIns="0" bIns="0" rtlCol="0" anchor="t"/>
          <a:lstStyle/>
          <a:p>
            <a:pPr algn="l" indent="0" marL="0">
              <a:lnSpc>
                <a:spcPct val="104000"/>
              </a:lnSpc>
              <a:buNone/>
            </a:pPr>
            <a:r>
              <a:rPr lang="en-US" sz="2400" b="1" dirty="0">
                <a:solidFill>
                  <a:srgbClr val="000000"/>
                </a:solidFill>
                <a:latin typeface="Inter Bold" pitchFamily="34" charset="0"/>
                <a:ea typeface="Inter Bold" pitchFamily="34" charset="-122"/>
                <a:cs typeface="Inter Bold" pitchFamily="34" charset="-120"/>
              </a:rPr>
              <a:t>Chosen Model</a:t>
            </a:r>
            <a:endParaRPr lang="en-US" sz="2400" dirty="0"/>
          </a:p>
        </p:txBody>
      </p:sp>
      <p:sp>
        <p:nvSpPr>
          <p:cNvPr id="23" name="Text 14"/>
          <p:cNvSpPr/>
          <p:nvPr/>
        </p:nvSpPr>
        <p:spPr>
          <a:xfrm>
            <a:off x="661475" y="4982071"/>
            <a:ext cx="10868745" cy="445294"/>
          </a:xfrm>
          <a:prstGeom prst="rect">
            <a:avLst/>
          </a:prstGeom>
          <a:noFill/>
          <a:ln/>
        </p:spPr>
        <p:txBody>
          <a:bodyPr wrap="square" lIns="0" tIns="0" rIns="0" bIns="0" rtlCol="0" anchor="t">
            <a:normAutofit/>
          </a:bodyPr>
          <a:lstStyle/>
          <a:p>
            <a:pPr algn="l" indent="0" marL="0">
              <a:lnSpc>
                <a:spcPct val="121000"/>
              </a:lnSpc>
              <a:buNone/>
            </a:pPr>
            <a:r>
              <a:rPr lang="en-US" sz="1200" b="1" dirty="0">
                <a:solidFill>
                  <a:srgbClr val="272525"/>
                </a:solidFill>
                <a:latin typeface="Inter Bold" pitchFamily="34" charset="0"/>
                <a:ea typeface="Inter Bold" pitchFamily="34" charset="-122"/>
                <a:cs typeface="Inter Bold" pitchFamily="34" charset="-120"/>
              </a:rPr>
              <a:t>Logistic Regression</a:t>
            </a:r>
            <a:pPr algn="l" indent="0" marL="0">
              <a:lnSpc>
                <a:spcPct val="121000"/>
              </a:lnSpc>
              <a:buNone/>
            </a:pPr>
            <a:r>
              <a:rPr lang="en-US" sz="1200" dirty="0">
                <a:solidFill>
                  <a:srgbClr val="272525"/>
                </a:solidFill>
                <a:latin typeface="Inter" pitchFamily="34" charset="0"/>
                <a:ea typeface="Inter" pitchFamily="34" charset="-122"/>
                <a:cs typeface="Inter" pitchFamily="34" charset="-120"/>
              </a:rPr>
              <a:t> was selected because its </a:t>
            </a:r>
            <a:pPr algn="l" indent="0" marL="0">
              <a:lnSpc>
                <a:spcPct val="121000"/>
              </a:lnSpc>
              <a:buNone/>
            </a:pPr>
            <a:r>
              <a:rPr lang="en-US" sz="1200" b="1" dirty="0">
                <a:solidFill>
                  <a:srgbClr val="272525"/>
                </a:solidFill>
                <a:latin typeface="Inter Bold" pitchFamily="34" charset="0"/>
                <a:ea typeface="Inter Bold" pitchFamily="34" charset="-122"/>
                <a:cs typeface="Inter Bold" pitchFamily="34" charset="-120"/>
              </a:rPr>
              <a:t>simplicity</a:t>
            </a:r>
            <a:pPr algn="l" indent="0" marL="0">
              <a:lnSpc>
                <a:spcPct val="121000"/>
              </a:lnSpc>
              <a:buNone/>
            </a:pPr>
            <a:r>
              <a:rPr lang="en-US" sz="1200" dirty="0">
                <a:solidFill>
                  <a:srgbClr val="272525"/>
                </a:solidFill>
                <a:latin typeface="Inter" pitchFamily="34" charset="0"/>
                <a:ea typeface="Inter" pitchFamily="34" charset="-122"/>
                <a:cs typeface="Inter" pitchFamily="34" charset="-120"/>
              </a:rPr>
              <a:t>, </a:t>
            </a:r>
            <a:pPr algn="l" indent="0" marL="0">
              <a:lnSpc>
                <a:spcPct val="121000"/>
              </a:lnSpc>
              <a:buNone/>
            </a:pPr>
            <a:r>
              <a:rPr lang="en-US" sz="1200" b="1" dirty="0">
                <a:solidFill>
                  <a:srgbClr val="272525"/>
                </a:solidFill>
                <a:latin typeface="Inter Bold" pitchFamily="34" charset="0"/>
                <a:ea typeface="Inter Bold" pitchFamily="34" charset="-122"/>
                <a:cs typeface="Inter Bold" pitchFamily="34" charset="-120"/>
              </a:rPr>
              <a:t>interpretability</a:t>
            </a:r>
            <a:pPr algn="l" indent="0" marL="0">
              <a:lnSpc>
                <a:spcPct val="121000"/>
              </a:lnSpc>
              <a:buNone/>
            </a:pPr>
            <a:r>
              <a:rPr lang="en-US" sz="1200" dirty="0">
                <a:solidFill>
                  <a:srgbClr val="272525"/>
                </a:solidFill>
                <a:latin typeface="Inter" pitchFamily="34" charset="0"/>
                <a:ea typeface="Inter" pitchFamily="34" charset="-122"/>
                <a:cs typeface="Inter" pitchFamily="34" charset="-120"/>
              </a:rPr>
              <a:t>, and </a:t>
            </a:r>
            <a:pPr algn="l" indent="0" marL="0">
              <a:lnSpc>
                <a:spcPct val="121000"/>
              </a:lnSpc>
              <a:buNone/>
            </a:pPr>
            <a:r>
              <a:rPr lang="en-US" sz="1200" b="1" dirty="0">
                <a:solidFill>
                  <a:srgbClr val="272525"/>
                </a:solidFill>
                <a:latin typeface="Inter Bold" pitchFamily="34" charset="0"/>
                <a:ea typeface="Inter Bold" pitchFamily="34" charset="-122"/>
                <a:cs typeface="Inter Bold" pitchFamily="34" charset="-120"/>
              </a:rPr>
              <a:t>reliable predictive accuracy</a:t>
            </a:r>
            <a:pPr algn="l" indent="0" marL="0">
              <a:lnSpc>
                <a:spcPct val="121000"/>
              </a:lnSpc>
              <a:buNone/>
            </a:pPr>
            <a:r>
              <a:rPr lang="en-US" sz="1200" dirty="0">
                <a:solidFill>
                  <a:srgbClr val="272525"/>
                </a:solidFill>
                <a:latin typeface="Inter" pitchFamily="34" charset="0"/>
                <a:ea typeface="Inter" pitchFamily="34" charset="-122"/>
                <a:cs typeface="Inter" pitchFamily="34" charset="-120"/>
              </a:rPr>
              <a:t> make it ideal for deployment in the Shiny web application.</a:t>
            </a:r>
            <a:endParaRPr lang="en-US" sz="1200" dirty="0"/>
          </a:p>
        </p:txBody>
      </p:sp>
      <p:sp>
        <p:nvSpPr>
          <p:cNvPr id="24" name="Text 15"/>
          <p:cNvSpPr/>
          <p:nvPr/>
        </p:nvSpPr>
        <p:spPr>
          <a:xfrm>
            <a:off x="661475" y="5567660"/>
            <a:ext cx="10868745" cy="755253"/>
          </a:xfrm>
          <a:prstGeom prst="rect">
            <a:avLst/>
          </a:prstGeom>
          <a:noFill/>
          <a:ln/>
        </p:spPr>
        <p:txBody>
          <a:bodyPr wrap="square" lIns="0" tIns="0" rIns="0" bIns="0" rtlCol="0" anchor="t">
            <a:normAutofit/>
          </a:bodyPr>
          <a:lstStyle/>
          <a:p>
            <a:pPr algn="l" marL="243840" indent="-243840">
              <a:lnSpc>
                <a:spcPct val="121000"/>
              </a:lnSpc>
              <a:buSzPct val="100000"/>
              <a:buChar char="•"/>
            </a:pPr>
            <a:r>
              <a:rPr lang="en-US" sz="1200" dirty="0">
                <a:solidFill>
                  <a:srgbClr val="272525"/>
                </a:solidFill>
                <a:latin typeface="Inter" pitchFamily="34" charset="0"/>
                <a:ea typeface="Inter" pitchFamily="34" charset="-122"/>
                <a:cs typeface="Inter" pitchFamily="34" charset="-120"/>
              </a:rPr>
              <a:t>Simplicity makes the model easy to implement and maintain</a:t>
            </a:r>
            <a:endParaRPr lang="en-US" sz="1200" dirty="0"/>
          </a:p>
          <a:p>
            <a:pPr algn="l" marL="243840" indent="-243840">
              <a:lnSpc>
                <a:spcPct val="121000"/>
              </a:lnSpc>
              <a:buSzPct val="100000"/>
              <a:buChar char="•"/>
            </a:pPr>
            <a:r>
              <a:rPr lang="en-US" sz="1200" dirty="0">
                <a:solidFill>
                  <a:srgbClr val="272525"/>
                </a:solidFill>
                <a:latin typeface="Inter" pitchFamily="34" charset="0"/>
                <a:ea typeface="Inter" pitchFamily="34" charset="-122"/>
                <a:cs typeface="Inter" pitchFamily="34" charset="-120"/>
              </a:rPr>
              <a:t>Interpretability helps explain predictions clearly</a:t>
            </a:r>
            <a:endParaRPr lang="en-US" sz="1200" dirty="0"/>
          </a:p>
          <a:p>
            <a:pPr algn="l" marL="243840" indent="-243840">
              <a:lnSpc>
                <a:spcPct val="121000"/>
              </a:lnSpc>
              <a:buSzPct val="100000"/>
              <a:buChar char="•"/>
            </a:pPr>
            <a:r>
              <a:rPr lang="en-US" sz="1200" dirty="0">
                <a:solidFill>
                  <a:srgbClr val="272525"/>
                </a:solidFill>
                <a:latin typeface="Inter" pitchFamily="34" charset="0"/>
                <a:ea typeface="Inter" pitchFamily="34" charset="-122"/>
                <a:cs typeface="Inter" pitchFamily="34" charset="-120"/>
              </a:rPr>
              <a:t>Reliable accuracy supports practical deployment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61475" y="959842"/>
            <a:ext cx="1748488" cy="287139"/>
          </a:xfrm>
          <a:prstGeom prst="roundRect">
            <a:avLst>
              <a:gd name="adj" fmla="val 22118"/>
            </a:avLst>
          </a:prstGeom>
          <a:noFill/>
          <a:ln w="6350">
            <a:solidFill>
              <a:srgbClr val="4950BC"/>
            </a:solidFill>
            <a:prstDash val="solid"/>
          </a:ln>
        </p:spPr>
      </p:sp>
      <p:sp>
        <p:nvSpPr>
          <p:cNvPr id="3" name="Text 1"/>
          <p:cNvSpPr/>
          <p:nvPr/>
        </p:nvSpPr>
        <p:spPr>
          <a:xfrm>
            <a:off x="774879" y="1016496"/>
            <a:ext cx="2131265" cy="173831"/>
          </a:xfrm>
          <a:prstGeom prst="rect">
            <a:avLst/>
          </a:prstGeom>
          <a:noFill/>
          <a:ln/>
        </p:spPr>
        <p:txBody>
          <a:bodyPr wrap="none" lIns="0" tIns="0" rIns="0" bIns="0" rtlCol="0" anchor="t"/>
          <a:lstStyle/>
          <a:p>
            <a:pPr algn="l" indent="0" marL="0">
              <a:lnSpc>
                <a:spcPct val="96000"/>
              </a:lnSpc>
              <a:buNone/>
            </a:pPr>
            <a:r>
              <a:rPr lang="en-US" sz="1150" dirty="0">
                <a:solidFill>
                  <a:srgbClr val="4950BC"/>
                </a:solidFill>
                <a:latin typeface="Inter" pitchFamily="34" charset="0"/>
                <a:ea typeface="Inter" pitchFamily="34" charset="-122"/>
                <a:cs typeface="Inter" pitchFamily="34" charset="-120"/>
              </a:rPr>
              <a:t>PROJECT OVERVIEW</a:t>
            </a:r>
            <a:endParaRPr lang="en-US" sz="1150" dirty="0"/>
          </a:p>
        </p:txBody>
      </p:sp>
      <p:sp>
        <p:nvSpPr>
          <p:cNvPr id="4" name="Text 2"/>
          <p:cNvSpPr/>
          <p:nvPr/>
        </p:nvSpPr>
        <p:spPr>
          <a:xfrm>
            <a:off x="661475" y="132258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000000"/>
                </a:solidFill>
                <a:latin typeface="Inter Bold" pitchFamily="34" charset="0"/>
                <a:ea typeface="Inter Bold" pitchFamily="34" charset="-122"/>
                <a:cs typeface="Inter Bold" pitchFamily="34" charset="-120"/>
              </a:rPr>
              <a:t>PROJECT CHALLENGES &amp; SOLUTIONS</a:t>
            </a:r>
            <a:endParaRPr lang="en-US" sz="3700" dirty="0"/>
          </a:p>
        </p:txBody>
      </p:sp>
      <p:sp>
        <p:nvSpPr>
          <p:cNvPr id="5" name="Text 3"/>
          <p:cNvSpPr/>
          <p:nvPr/>
        </p:nvSpPr>
        <p:spPr>
          <a:xfrm>
            <a:off x="661475" y="2196703"/>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Key obstacles encountered during the project and the practical solutions used to address them.</a:t>
            </a:r>
            <a:endParaRPr lang="en-US" sz="14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711748"/>
            <a:ext cx="2575357" cy="3186410"/>
          </a:xfrm>
          <a:prstGeom prst="rect">
            <a:avLst/>
          </a:prstGeom>
        </p:spPr>
      </p:pic>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35650" y="2881809"/>
            <a:ext cx="226808" cy="226814"/>
          </a:xfrm>
          <a:prstGeom prst="rect">
            <a:avLst/>
          </a:prstGeom>
        </p:spPr>
      </p:pic>
      <p:sp>
        <p:nvSpPr>
          <p:cNvPr id="8" name="Text 4"/>
          <p:cNvSpPr/>
          <p:nvPr/>
        </p:nvSpPr>
        <p:spPr>
          <a:xfrm>
            <a:off x="875881" y="3467695"/>
            <a:ext cx="2146544"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272525"/>
                </a:solidFill>
                <a:latin typeface="Inter Bold" pitchFamily="34" charset="0"/>
                <a:ea typeface="Inter Bold" pitchFamily="34" charset="-122"/>
                <a:cs typeface="Inter Bold" pitchFamily="34" charset="-120"/>
              </a:rPr>
              <a:t>Lack of Structured Data</a:t>
            </a:r>
            <a:endParaRPr lang="en-US" sz="1850" dirty="0"/>
          </a:p>
        </p:txBody>
      </p:sp>
      <p:sp>
        <p:nvSpPr>
          <p:cNvPr id="9" name="Text 5"/>
          <p:cNvSpPr/>
          <p:nvPr/>
        </p:nvSpPr>
        <p:spPr>
          <a:xfrm>
            <a:off x="875881" y="4171652"/>
            <a:ext cx="2146544"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Manually analyzed public LinkedIn profiles to identify real-world career trends.</a:t>
            </a:r>
            <a:endParaRPr lang="en-US" sz="14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25839" y="2711748"/>
            <a:ext cx="2575456" cy="3186410"/>
          </a:xfrm>
          <a:prstGeom prst="rect">
            <a:avLst/>
          </a:prstGeom>
        </p:spPr>
      </p:pic>
      <p:pic>
        <p:nvPicPr>
          <p:cNvPr id="1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00113" y="2881809"/>
            <a:ext cx="226808" cy="226814"/>
          </a:xfrm>
          <a:prstGeom prst="rect">
            <a:avLst/>
          </a:prstGeom>
        </p:spPr>
      </p:pic>
      <p:sp>
        <p:nvSpPr>
          <p:cNvPr id="12" name="Text 6"/>
          <p:cNvSpPr/>
          <p:nvPr/>
        </p:nvSpPr>
        <p:spPr>
          <a:xfrm>
            <a:off x="3640245" y="3467695"/>
            <a:ext cx="2146643"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272525"/>
                </a:solidFill>
                <a:latin typeface="Inter Bold" pitchFamily="34" charset="0"/>
                <a:ea typeface="Inter Bold" pitchFamily="34" charset="-122"/>
                <a:cs typeface="Inter Bold" pitchFamily="34" charset="-120"/>
              </a:rPr>
              <a:t>Synthetic Dataset Creation</a:t>
            </a:r>
            <a:endParaRPr lang="en-US" sz="1850" dirty="0"/>
          </a:p>
        </p:txBody>
      </p:sp>
      <p:sp>
        <p:nvSpPr>
          <p:cNvPr id="13" name="Text 7"/>
          <p:cNvSpPr/>
          <p:nvPr/>
        </p:nvSpPr>
        <p:spPr>
          <a:xfrm>
            <a:off x="3640245" y="4171652"/>
            <a:ext cx="2146643"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Used insights from LinkedIn analysis to build a realistic synthetic dataset.</a:t>
            </a:r>
            <a:endParaRPr lang="en-US" sz="1450" dirty="0"/>
          </a:p>
        </p:txBody>
      </p:sp>
      <p:pic>
        <p:nvPicPr>
          <p:cNvPr id="1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90301" y="2711748"/>
            <a:ext cx="2575456" cy="3186410"/>
          </a:xfrm>
          <a:prstGeom prst="rect">
            <a:avLst/>
          </a:prstGeom>
        </p:spPr>
      </p:pic>
      <p:pic>
        <p:nvPicPr>
          <p:cNvPr id="1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64576" y="2881809"/>
            <a:ext cx="226808" cy="226814"/>
          </a:xfrm>
          <a:prstGeom prst="rect">
            <a:avLst/>
          </a:prstGeom>
        </p:spPr>
      </p:pic>
      <p:sp>
        <p:nvSpPr>
          <p:cNvPr id="16" name="Text 8"/>
          <p:cNvSpPr/>
          <p:nvPr/>
        </p:nvSpPr>
        <p:spPr>
          <a:xfrm>
            <a:off x="6404708" y="3467695"/>
            <a:ext cx="2146643"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272525"/>
                </a:solidFill>
                <a:latin typeface="Inter Bold" pitchFamily="34" charset="0"/>
                <a:ea typeface="Inter Bold" pitchFamily="34" charset="-122"/>
                <a:cs typeface="Inter Bold" pitchFamily="34" charset="-120"/>
              </a:rPr>
              <a:t>Model Selection Challenge</a:t>
            </a:r>
            <a:endParaRPr lang="en-US" sz="1850" dirty="0"/>
          </a:p>
        </p:txBody>
      </p:sp>
      <p:sp>
        <p:nvSpPr>
          <p:cNvPr id="17" name="Text 9"/>
          <p:cNvSpPr/>
          <p:nvPr/>
        </p:nvSpPr>
        <p:spPr>
          <a:xfrm>
            <a:off x="6404708" y="4171652"/>
            <a:ext cx="2146643"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Evaluated Random Forest, Logistic Regression, and SVM; selected Logistic Regression.</a:t>
            </a:r>
            <a:endParaRPr lang="en-US" sz="1450" dirty="0"/>
          </a:p>
        </p:txBody>
      </p:sp>
      <p:pic>
        <p:nvPicPr>
          <p:cNvPr id="18"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954764" y="2711748"/>
            <a:ext cx="2575456" cy="3186410"/>
          </a:xfrm>
          <a:prstGeom prst="rect">
            <a:avLst/>
          </a:prstGeom>
        </p:spPr>
      </p:pic>
      <p:pic>
        <p:nvPicPr>
          <p:cNvPr id="19"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129038" y="2881809"/>
            <a:ext cx="226808" cy="226814"/>
          </a:xfrm>
          <a:prstGeom prst="rect">
            <a:avLst/>
          </a:prstGeom>
        </p:spPr>
      </p:pic>
      <p:sp>
        <p:nvSpPr>
          <p:cNvPr id="20" name="Text 10"/>
          <p:cNvSpPr/>
          <p:nvPr/>
        </p:nvSpPr>
        <p:spPr>
          <a:xfrm>
            <a:off x="9169171" y="3467695"/>
            <a:ext cx="2146643"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272525"/>
                </a:solidFill>
                <a:latin typeface="Inter Bold" pitchFamily="34" charset="0"/>
                <a:ea typeface="Inter Bold" pitchFamily="34" charset="-122"/>
                <a:cs typeface="Inter Bold" pitchFamily="34" charset="-120"/>
              </a:rPr>
              <a:t>User-Friendly Design</a:t>
            </a:r>
            <a:endParaRPr lang="en-US" sz="1850" dirty="0"/>
          </a:p>
        </p:txBody>
      </p:sp>
      <p:sp>
        <p:nvSpPr>
          <p:cNvPr id="21" name="Text 11"/>
          <p:cNvSpPr/>
          <p:nvPr/>
        </p:nvSpPr>
        <p:spPr>
          <a:xfrm>
            <a:off x="9169171" y="4171652"/>
            <a:ext cx="2146643"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Built an interactive Shiny app with sliders and dropdowns for non-technical users.</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61475" y="534194"/>
            <a:ext cx="993651" cy="273645"/>
          </a:xfrm>
          <a:prstGeom prst="roundRect">
            <a:avLst>
              <a:gd name="adj" fmla="val 22121"/>
            </a:avLst>
          </a:prstGeom>
          <a:noFill/>
          <a:ln w="6350">
            <a:solidFill>
              <a:srgbClr val="4950BC"/>
            </a:solidFill>
            <a:prstDash val="solid"/>
          </a:ln>
        </p:spPr>
      </p:sp>
      <p:sp>
        <p:nvSpPr>
          <p:cNvPr id="3" name="Text 1"/>
          <p:cNvSpPr/>
          <p:nvPr/>
        </p:nvSpPr>
        <p:spPr>
          <a:xfrm>
            <a:off x="769521" y="588169"/>
            <a:ext cx="1387143" cy="165695"/>
          </a:xfrm>
          <a:prstGeom prst="rect">
            <a:avLst/>
          </a:prstGeom>
          <a:noFill/>
          <a:ln/>
        </p:spPr>
        <p:txBody>
          <a:bodyPr wrap="none" lIns="0" tIns="0" rIns="0" bIns="0" rtlCol="0" anchor="t"/>
          <a:lstStyle/>
          <a:p>
            <a:pPr algn="l" indent="0" marL="0">
              <a:lnSpc>
                <a:spcPct val="96000"/>
              </a:lnSpc>
              <a:buNone/>
            </a:pPr>
            <a:r>
              <a:rPr lang="en-US" sz="1100" dirty="0">
                <a:solidFill>
                  <a:srgbClr val="4950BC"/>
                </a:solidFill>
                <a:latin typeface="Inter" pitchFamily="34" charset="0"/>
                <a:ea typeface="Inter" pitchFamily="34" charset="-122"/>
                <a:cs typeface="Inter" pitchFamily="34" charset="-120"/>
              </a:rPr>
              <a:t>LIVE DEMO</a:t>
            </a:r>
            <a:endParaRPr lang="en-US" sz="1100" dirty="0"/>
          </a:p>
        </p:txBody>
      </p:sp>
      <p:sp>
        <p:nvSpPr>
          <p:cNvPr id="4" name="Text 2"/>
          <p:cNvSpPr/>
          <p:nvPr/>
        </p:nvSpPr>
        <p:spPr>
          <a:xfrm>
            <a:off x="661475" y="876498"/>
            <a:ext cx="10868745" cy="563066"/>
          </a:xfrm>
          <a:prstGeom prst="rect">
            <a:avLst/>
          </a:prstGeom>
          <a:noFill/>
          <a:ln/>
        </p:spPr>
        <p:txBody>
          <a:bodyPr wrap="none" lIns="0" tIns="0" rIns="0" bIns="0" rtlCol="0" anchor="t"/>
          <a:lstStyle/>
          <a:p>
            <a:pPr algn="l" indent="0" marL="0">
              <a:lnSpc>
                <a:spcPct val="104000"/>
              </a:lnSpc>
              <a:buNone/>
            </a:pPr>
            <a:r>
              <a:rPr lang="en-US" sz="3500" b="1" dirty="0">
                <a:solidFill>
                  <a:srgbClr val="000000"/>
                </a:solidFill>
                <a:latin typeface="Inter Bold" pitchFamily="34" charset="0"/>
                <a:ea typeface="Inter Bold" pitchFamily="34" charset="-122"/>
                <a:cs typeface="Inter Bold" pitchFamily="34" charset="-120"/>
              </a:rPr>
              <a:t>LIVE DEMONSTRATION</a:t>
            </a:r>
            <a:endParaRPr lang="en-US" sz="3500" dirty="0"/>
          </a:p>
        </p:txBody>
      </p:sp>
      <p:sp>
        <p:nvSpPr>
          <p:cNvPr id="5" name="Text 3"/>
          <p:cNvSpPr/>
          <p:nvPr/>
        </p:nvSpPr>
        <p:spPr>
          <a:xfrm>
            <a:off x="661475" y="1508224"/>
            <a:ext cx="10868745" cy="281484"/>
          </a:xfrm>
          <a:prstGeom prst="rect">
            <a:avLst/>
          </a:prstGeom>
          <a:noFill/>
          <a:ln/>
        </p:spPr>
        <p:txBody>
          <a:bodyPr wrap="none" lIns="0" tIns="0" rIns="0" bIns="0" rtlCol="0" anchor="t"/>
          <a:lstStyle/>
          <a:p>
            <a:pPr algn="l" indent="0" marL="0">
              <a:lnSpc>
                <a:spcPct val="104000"/>
              </a:lnSpc>
              <a:buNone/>
            </a:pPr>
            <a:r>
              <a:rPr lang="en-US" sz="1750" b="1" dirty="0">
                <a:solidFill>
                  <a:srgbClr val="000000"/>
                </a:solidFill>
                <a:latin typeface="Inter Bold" pitchFamily="34" charset="0"/>
                <a:ea typeface="Inter Bold" pitchFamily="34" charset="-122"/>
                <a:cs typeface="Inter Bold" pitchFamily="34" charset="-120"/>
              </a:rPr>
              <a:t>Interactive Shiny Application</a:t>
            </a:r>
            <a:endParaRPr lang="en-US" sz="1750" dirty="0"/>
          </a:p>
        </p:txBody>
      </p:sp>
      <p:sp>
        <p:nvSpPr>
          <p:cNvPr id="6" name="Text 4"/>
          <p:cNvSpPr/>
          <p:nvPr/>
        </p:nvSpPr>
        <p:spPr>
          <a:xfrm>
            <a:off x="661475" y="2047280"/>
            <a:ext cx="10868745" cy="562967"/>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272525"/>
                </a:solidFill>
                <a:latin typeface="Inter" pitchFamily="34" charset="0"/>
                <a:ea typeface="Inter" pitchFamily="34" charset="-122"/>
                <a:cs typeface="Inter" pitchFamily="34" charset="-120"/>
              </a:rPr>
              <a:t>This section will showcase the live application experience, walking through how users interact with the interface, generate predictions, and explore the results in real time.</a:t>
            </a:r>
            <a:endParaRPr lang="en-US" sz="1400" dirty="0"/>
          </a:p>
        </p:txBody>
      </p:sp>
      <p:sp>
        <p:nvSpPr>
          <p:cNvPr id="7" name="Shape 5"/>
          <p:cNvSpPr/>
          <p:nvPr/>
        </p:nvSpPr>
        <p:spPr>
          <a:xfrm>
            <a:off x="661475" y="2803426"/>
            <a:ext cx="10868745" cy="697508"/>
          </a:xfrm>
          <a:prstGeom prst="roundRect">
            <a:avLst>
              <a:gd name="adj" fmla="val 10848"/>
            </a:avLst>
          </a:prstGeom>
          <a:solidFill>
            <a:srgbClr val="DADBF1"/>
          </a:solidFill>
          <a:ln/>
        </p:spPr>
      </p:sp>
      <p:pic>
        <p:nvPicPr>
          <p:cNvPr id="8" name="Image 0" descr="preencoded.png">    </p:cNvPr>
          <p:cNvPicPr>
            <a:picLocks noChangeAspect="1"/>
          </p:cNvPicPr>
          <p:nvPr/>
        </p:nvPicPr>
        <p:blipFill>
          <a:blip r:embed="rId1"/>
          <a:stretch>
            <a:fillRect/>
          </a:stretch>
        </p:blipFill>
        <p:spPr>
          <a:xfrm>
            <a:off x="841552" y="3054945"/>
            <a:ext cx="225122" cy="180082"/>
          </a:xfrm>
          <a:prstGeom prst="rect">
            <a:avLst/>
          </a:prstGeom>
        </p:spPr>
      </p:pic>
      <p:sp>
        <p:nvSpPr>
          <p:cNvPr id="9" name="Text 6"/>
          <p:cNvSpPr/>
          <p:nvPr/>
        </p:nvSpPr>
        <p:spPr>
          <a:xfrm>
            <a:off x="1246752" y="3020020"/>
            <a:ext cx="10712976" cy="281484"/>
          </a:xfrm>
          <a:prstGeom prst="rect">
            <a:avLst/>
          </a:prstGeom>
          <a:noFill/>
          <a:ln/>
        </p:spPr>
        <p:txBody>
          <a:bodyPr wrap="none" lIns="0" tIns="0" rIns="0" bIns="0" rtlCol="0" anchor="t"/>
          <a:lstStyle/>
          <a:p>
            <a:pPr algn="l" indent="0" marL="0">
              <a:lnSpc>
                <a:spcPct val="130000"/>
              </a:lnSpc>
              <a:buNone/>
            </a:pPr>
            <a:r>
              <a:rPr lang="en-US" sz="1400" dirty="0">
                <a:solidFill>
                  <a:srgbClr val="000000"/>
                </a:solidFill>
                <a:latin typeface="Inter" pitchFamily="34" charset="0"/>
                <a:ea typeface="Inter" pitchFamily="34" charset="-122"/>
                <a:cs typeface="Inter" pitchFamily="34" charset="-120"/>
              </a:rPr>
              <a:t>Watch the demo to see how input changes instantly update predictions and visual insights.</a:t>
            </a:r>
            <a:endParaRPr lang="en-US" sz="1400" dirty="0"/>
          </a:p>
        </p:txBody>
      </p:sp>
      <p:pic>
        <p:nvPicPr>
          <p:cNvPr id="10"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3694113"/>
            <a:ext cx="3508486" cy="2154932"/>
          </a:xfrm>
          <a:prstGeom prst="rect">
            <a:avLst/>
          </a:prstGeom>
        </p:spPr>
      </p:pic>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07622" y="3856236"/>
            <a:ext cx="216093" cy="216098"/>
          </a:xfrm>
          <a:prstGeom prst="rect">
            <a:avLst/>
          </a:prstGeom>
        </p:spPr>
      </p:pic>
      <p:sp>
        <p:nvSpPr>
          <p:cNvPr id="12" name="Text 7"/>
          <p:cNvSpPr/>
          <p:nvPr/>
        </p:nvSpPr>
        <p:spPr>
          <a:xfrm>
            <a:off x="866952" y="4414639"/>
            <a:ext cx="3097532" cy="281484"/>
          </a:xfrm>
          <a:prstGeom prst="rect">
            <a:avLst/>
          </a:prstGeom>
          <a:noFill/>
          <a:ln/>
        </p:spPr>
        <p:txBody>
          <a:bodyPr wrap="none" lIns="0" tIns="0" rIns="0" bIns="0" rtlCol="0" anchor="t"/>
          <a:lstStyle/>
          <a:p>
            <a:pPr algn="l" indent="0" marL="0">
              <a:lnSpc>
                <a:spcPct val="104000"/>
              </a:lnSpc>
              <a:buNone/>
            </a:pPr>
            <a:r>
              <a:rPr lang="en-US" sz="1750" b="1" dirty="0">
                <a:solidFill>
                  <a:srgbClr val="272525"/>
                </a:solidFill>
                <a:latin typeface="Inter Bold" pitchFamily="34" charset="0"/>
                <a:ea typeface="Inter Bold" pitchFamily="34" charset="-122"/>
                <a:cs typeface="Inter Bold" pitchFamily="34" charset="-120"/>
              </a:rPr>
              <a:t>User Input Interface</a:t>
            </a:r>
            <a:endParaRPr lang="en-US" sz="1750" dirty="0"/>
          </a:p>
        </p:txBody>
      </p:sp>
      <p:sp>
        <p:nvSpPr>
          <p:cNvPr id="13" name="Text 8"/>
          <p:cNvSpPr/>
          <p:nvPr/>
        </p:nvSpPr>
        <p:spPr>
          <a:xfrm>
            <a:off x="866952" y="4799112"/>
            <a:ext cx="3097532" cy="844451"/>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272525"/>
                </a:solidFill>
                <a:latin typeface="Inter" pitchFamily="34" charset="0"/>
                <a:ea typeface="Inter" pitchFamily="34" charset="-122"/>
                <a:cs typeface="Inter" pitchFamily="34" charset="-120"/>
              </a:rPr>
              <a:t>Explore sliders, dropdowns, and other controls used to configure inputs.</a:t>
            </a:r>
            <a:endParaRPr lang="en-US" sz="1400" dirty="0"/>
          </a:p>
        </p:txBody>
      </p:sp>
      <p:pic>
        <p:nvPicPr>
          <p:cNvPr id="14"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41605" y="3694113"/>
            <a:ext cx="3508486" cy="2154932"/>
          </a:xfrm>
          <a:prstGeom prst="rect">
            <a:avLst/>
          </a:prstGeom>
        </p:spPr>
      </p:pic>
      <p:pic>
        <p:nvPicPr>
          <p:cNvPr id="15"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87751" y="3856236"/>
            <a:ext cx="216093" cy="216098"/>
          </a:xfrm>
          <a:prstGeom prst="rect">
            <a:avLst/>
          </a:prstGeom>
        </p:spPr>
      </p:pic>
      <p:sp>
        <p:nvSpPr>
          <p:cNvPr id="16" name="Text 9"/>
          <p:cNvSpPr/>
          <p:nvPr/>
        </p:nvSpPr>
        <p:spPr>
          <a:xfrm>
            <a:off x="4547082" y="4414639"/>
            <a:ext cx="3097532" cy="281484"/>
          </a:xfrm>
          <a:prstGeom prst="rect">
            <a:avLst/>
          </a:prstGeom>
          <a:noFill/>
          <a:ln/>
        </p:spPr>
        <p:txBody>
          <a:bodyPr wrap="none" lIns="0" tIns="0" rIns="0" bIns="0" rtlCol="0" anchor="t"/>
          <a:lstStyle/>
          <a:p>
            <a:pPr algn="l" indent="0" marL="0">
              <a:lnSpc>
                <a:spcPct val="104000"/>
              </a:lnSpc>
              <a:buNone/>
            </a:pPr>
            <a:r>
              <a:rPr lang="en-US" sz="1750" b="1" dirty="0">
                <a:solidFill>
                  <a:srgbClr val="272525"/>
                </a:solidFill>
                <a:latin typeface="Inter Bold" pitchFamily="34" charset="0"/>
                <a:ea typeface="Inter Bold" pitchFamily="34" charset="-122"/>
                <a:cs typeface="Inter Bold" pitchFamily="34" charset="-120"/>
              </a:rPr>
              <a:t>Real-time Predictions</a:t>
            </a:r>
            <a:endParaRPr lang="en-US" sz="1750" dirty="0"/>
          </a:p>
        </p:txBody>
      </p:sp>
      <p:sp>
        <p:nvSpPr>
          <p:cNvPr id="17" name="Text 10"/>
          <p:cNvSpPr/>
          <p:nvPr/>
        </p:nvSpPr>
        <p:spPr>
          <a:xfrm>
            <a:off x="4547082" y="4799112"/>
            <a:ext cx="3097532" cy="562967"/>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272525"/>
                </a:solidFill>
                <a:latin typeface="Inter" pitchFamily="34" charset="0"/>
                <a:ea typeface="Inter" pitchFamily="34" charset="-122"/>
                <a:cs typeface="Inter" pitchFamily="34" charset="-120"/>
              </a:rPr>
              <a:t>See the model respond instantly as input values are adjusted.</a:t>
            </a:r>
            <a:endParaRPr lang="en-US" sz="1400" dirty="0"/>
          </a:p>
        </p:txBody>
      </p:sp>
      <p:pic>
        <p:nvPicPr>
          <p:cNvPr id="18"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21734" y="3694113"/>
            <a:ext cx="3508486" cy="2154932"/>
          </a:xfrm>
          <a:prstGeom prst="rect">
            <a:avLst/>
          </a:prstGeom>
        </p:spPr>
      </p:pic>
      <p:pic>
        <p:nvPicPr>
          <p:cNvPr id="19"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667881" y="3856236"/>
            <a:ext cx="216093" cy="216098"/>
          </a:xfrm>
          <a:prstGeom prst="rect">
            <a:avLst/>
          </a:prstGeom>
        </p:spPr>
      </p:pic>
      <p:sp>
        <p:nvSpPr>
          <p:cNvPr id="20" name="Text 11"/>
          <p:cNvSpPr/>
          <p:nvPr/>
        </p:nvSpPr>
        <p:spPr>
          <a:xfrm>
            <a:off x="8227211" y="4414639"/>
            <a:ext cx="3097532" cy="281484"/>
          </a:xfrm>
          <a:prstGeom prst="rect">
            <a:avLst/>
          </a:prstGeom>
          <a:noFill/>
          <a:ln/>
        </p:spPr>
        <p:txBody>
          <a:bodyPr wrap="none" lIns="0" tIns="0" rIns="0" bIns="0" rtlCol="0" anchor="t"/>
          <a:lstStyle/>
          <a:p>
            <a:pPr algn="l" indent="0" marL="0">
              <a:lnSpc>
                <a:spcPct val="104000"/>
              </a:lnSpc>
              <a:buNone/>
            </a:pPr>
            <a:r>
              <a:rPr lang="en-US" sz="1750" b="1" dirty="0">
                <a:solidFill>
                  <a:srgbClr val="272525"/>
                </a:solidFill>
                <a:latin typeface="Inter Bold" pitchFamily="34" charset="0"/>
                <a:ea typeface="Inter Bold" pitchFamily="34" charset="-122"/>
                <a:cs typeface="Inter Bold" pitchFamily="34" charset="-120"/>
              </a:rPr>
              <a:t>Visual Analytics</a:t>
            </a:r>
            <a:endParaRPr lang="en-US" sz="1750" dirty="0"/>
          </a:p>
        </p:txBody>
      </p:sp>
      <p:sp>
        <p:nvSpPr>
          <p:cNvPr id="21" name="Text 12"/>
          <p:cNvSpPr/>
          <p:nvPr/>
        </p:nvSpPr>
        <p:spPr>
          <a:xfrm>
            <a:off x="8227211" y="4799112"/>
            <a:ext cx="3097532" cy="562967"/>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272525"/>
                </a:solidFill>
                <a:latin typeface="Inter" pitchFamily="34" charset="0"/>
                <a:ea typeface="Inter" pitchFamily="34" charset="-122"/>
                <a:cs typeface="Inter" pitchFamily="34" charset="-120"/>
              </a:rPr>
              <a:t>Review charts and insights that make the results easy to interpret.</a:t>
            </a:r>
            <a:endParaRPr lang="en-US" sz="1400" dirty="0"/>
          </a:p>
        </p:txBody>
      </p:sp>
      <p:sp>
        <p:nvSpPr>
          <p:cNvPr id="22" name="Text 13"/>
          <p:cNvSpPr/>
          <p:nvPr/>
        </p:nvSpPr>
        <p:spPr>
          <a:xfrm>
            <a:off x="661475" y="6042223"/>
            <a:ext cx="11478330" cy="281484"/>
          </a:xfrm>
          <a:prstGeom prst="rect">
            <a:avLst/>
          </a:prstGeom>
          <a:noFill/>
          <a:ln/>
        </p:spPr>
        <p:txBody>
          <a:bodyPr wrap="none" lIns="0" tIns="0" rIns="0" bIns="0" rtlCol="0" anchor="t"/>
          <a:lstStyle/>
          <a:p>
            <a:pPr algn="l" indent="0" marL="0">
              <a:lnSpc>
                <a:spcPct val="130000"/>
              </a:lnSpc>
              <a:buNone/>
            </a:pPr>
            <a:r>
              <a:rPr lang="en-US" sz="1400" b="1" dirty="0">
                <a:solidFill>
                  <a:srgbClr val="272525"/>
                </a:solidFill>
                <a:latin typeface="Inter Bold" pitchFamily="34" charset="0"/>
                <a:ea typeface="Inter Bold" pitchFamily="34" charset="-122"/>
                <a:cs typeface="Inter Bold" pitchFamily="34" charset="-120"/>
              </a:rPr>
              <a:t>Ready to explore the app live?</a:t>
            </a:r>
            <a:pPr algn="l" indent="0" marL="0">
              <a:lnSpc>
                <a:spcPct val="130000"/>
              </a:lnSpc>
              <a:buNone/>
            </a:pPr>
            <a:r>
              <a:rPr lang="en-US" sz="1400" dirty="0">
                <a:solidFill>
                  <a:srgbClr val="272525"/>
                </a:solidFill>
                <a:latin typeface="Inter" pitchFamily="34" charset="0"/>
                <a:ea typeface="Inter" pitchFamily="34" charset="-122"/>
                <a:cs typeface="Inter" pitchFamily="34" charset="-120"/>
              </a:rPr>
              <a:t> Use the demo to test inputs, compare outputs, and see the model in action.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61475" y="538956"/>
            <a:ext cx="1125708" cy="260152"/>
          </a:xfrm>
          <a:prstGeom prst="roundRect">
            <a:avLst>
              <a:gd name="adj" fmla="val 22124"/>
            </a:avLst>
          </a:prstGeom>
          <a:noFill/>
          <a:ln w="6350">
            <a:solidFill>
              <a:srgbClr val="4950BC"/>
            </a:solidFill>
            <a:prstDash val="solid"/>
          </a:ln>
        </p:spPr>
      </p:sp>
      <p:sp>
        <p:nvSpPr>
          <p:cNvPr id="3" name="Text 1"/>
          <p:cNvSpPr/>
          <p:nvPr/>
        </p:nvSpPr>
        <p:spPr>
          <a:xfrm>
            <a:off x="764164" y="590252"/>
            <a:ext cx="1529915" cy="157559"/>
          </a:xfrm>
          <a:prstGeom prst="rect">
            <a:avLst/>
          </a:prstGeom>
          <a:noFill/>
          <a:ln/>
        </p:spPr>
        <p:txBody>
          <a:bodyPr wrap="none" lIns="0" tIns="0" rIns="0" bIns="0" rtlCol="0" anchor="t"/>
          <a:lstStyle/>
          <a:p>
            <a:pPr algn="l" indent="0" marL="0">
              <a:lnSpc>
                <a:spcPct val="96000"/>
              </a:lnSpc>
              <a:buNone/>
            </a:pPr>
            <a:r>
              <a:rPr lang="en-US" sz="1050" dirty="0">
                <a:solidFill>
                  <a:srgbClr val="4950BC"/>
                </a:solidFill>
                <a:latin typeface="Inter" pitchFamily="34" charset="0"/>
                <a:ea typeface="Inter" pitchFamily="34" charset="-122"/>
                <a:cs typeface="Inter" pitchFamily="34" charset="-120"/>
              </a:rPr>
              <a:t>CONCLUSION</a:t>
            </a:r>
            <a:endParaRPr lang="en-US" sz="1050" dirty="0"/>
          </a:p>
        </p:txBody>
      </p:sp>
      <p:sp>
        <p:nvSpPr>
          <p:cNvPr id="4" name="Text 2"/>
          <p:cNvSpPr/>
          <p:nvPr/>
        </p:nvSpPr>
        <p:spPr>
          <a:xfrm>
            <a:off x="661475" y="861120"/>
            <a:ext cx="10868745" cy="267593"/>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Inter Bold" pitchFamily="34" charset="0"/>
                <a:ea typeface="Inter Bold" pitchFamily="34" charset="-122"/>
                <a:cs typeface="Inter Bold" pitchFamily="34" charset="-120"/>
              </a:rPr>
              <a:t>Final Takeaway</a:t>
            </a:r>
            <a:endParaRPr lang="en-US" sz="1650" dirty="0"/>
          </a:p>
        </p:txBody>
      </p:sp>
      <p:sp>
        <p:nvSpPr>
          <p:cNvPr id="5" name="Text 3"/>
          <p:cNvSpPr/>
          <p:nvPr/>
        </p:nvSpPr>
        <p:spPr>
          <a:xfrm>
            <a:off x="661475" y="1190724"/>
            <a:ext cx="10868745" cy="535285"/>
          </a:xfrm>
          <a:prstGeom prst="rect">
            <a:avLst/>
          </a:prstGeom>
          <a:noFill/>
          <a:ln/>
        </p:spPr>
        <p:txBody>
          <a:bodyPr wrap="none" lIns="0" tIns="0" rIns="0" bIns="0" rtlCol="0" anchor="t"/>
          <a:lstStyle/>
          <a:p>
            <a:pPr algn="l" indent="0" marL="0">
              <a:lnSpc>
                <a:spcPct val="104000"/>
              </a:lnSpc>
              <a:buNone/>
            </a:pPr>
            <a:r>
              <a:rPr lang="en-US" sz="3350" b="1" dirty="0">
                <a:solidFill>
                  <a:srgbClr val="000000"/>
                </a:solidFill>
                <a:latin typeface="Inter Bold" pitchFamily="34" charset="0"/>
                <a:ea typeface="Inter Bold" pitchFamily="34" charset="-122"/>
                <a:cs typeface="Inter Bold" pitchFamily="34" charset="-120"/>
              </a:rPr>
              <a:t>CONCLUSION</a:t>
            </a:r>
            <a:endParaRPr lang="en-US" sz="3350" dirty="0"/>
          </a:p>
        </p:txBody>
      </p:sp>
      <p:sp>
        <p:nvSpPr>
          <p:cNvPr id="6" name="Text 4"/>
          <p:cNvSpPr/>
          <p:nvPr/>
        </p:nvSpPr>
        <p:spPr>
          <a:xfrm>
            <a:off x="661475" y="1958777"/>
            <a:ext cx="10868745" cy="522486"/>
          </a:xfrm>
          <a:prstGeom prst="rect">
            <a:avLst/>
          </a:prstGeom>
          <a:noFill/>
          <a:ln/>
        </p:spPr>
        <p:txBody>
          <a:bodyPr wrap="square" lIns="0" tIns="0" rIns="0" bIns="0" rtlCol="0" anchor="t">
            <a:normAutofit/>
          </a:bodyPr>
          <a:lstStyle/>
          <a:p>
            <a:pPr algn="l" indent="0" marL="0">
              <a:lnSpc>
                <a:spcPct val="127000"/>
              </a:lnSpc>
              <a:buNone/>
            </a:pPr>
            <a:r>
              <a:rPr lang="en-US" sz="1300" b="1" dirty="0">
                <a:solidFill>
                  <a:srgbClr val="272525"/>
                </a:solidFill>
                <a:latin typeface="Inter Bold" pitchFamily="34" charset="0"/>
                <a:ea typeface="Inter Bold" pitchFamily="34" charset="-122"/>
                <a:cs typeface="Inter Bold" pitchFamily="34" charset="-120"/>
              </a:rPr>
              <a:t>Career Compass successfully demonstrates how machine learning can guide professional growth by combining data analysis with user-friendly web interfaces.</a:t>
            </a:r>
            <a:endParaRPr lang="en-US" sz="13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55888"/>
            <a:ext cx="3519399" cy="1758553"/>
          </a:xfrm>
          <a:prstGeom prst="rect">
            <a:avLst/>
          </a:prstGeom>
        </p:spPr>
      </p:pic>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18436" y="2810073"/>
            <a:ext cx="205477" cy="205482"/>
          </a:xfrm>
          <a:prstGeom prst="rect">
            <a:avLst/>
          </a:prstGeom>
        </p:spPr>
      </p:pic>
      <p:sp>
        <p:nvSpPr>
          <p:cNvPr id="9" name="Text 5"/>
          <p:cNvSpPr/>
          <p:nvPr/>
        </p:nvSpPr>
        <p:spPr>
          <a:xfrm>
            <a:off x="851772" y="3340993"/>
            <a:ext cx="3138806" cy="267593"/>
          </a:xfrm>
          <a:prstGeom prst="rect">
            <a:avLst/>
          </a:prstGeom>
          <a:noFill/>
          <a:ln/>
        </p:spPr>
        <p:txBody>
          <a:bodyPr wrap="none" lIns="0" tIns="0" rIns="0" bIns="0" rtlCol="0" anchor="t"/>
          <a:lstStyle/>
          <a:p>
            <a:pPr algn="l" indent="0" marL="0">
              <a:lnSpc>
                <a:spcPct val="104000"/>
              </a:lnSpc>
              <a:buNone/>
            </a:pPr>
            <a:r>
              <a:rPr lang="en-US" sz="1650" b="1" dirty="0">
                <a:solidFill>
                  <a:srgbClr val="272525"/>
                </a:solidFill>
                <a:latin typeface="Inter Bold" pitchFamily="34" charset="0"/>
                <a:ea typeface="Inter Bold" pitchFamily="34" charset="-122"/>
                <a:cs typeface="Inter Bold" pitchFamily="34" charset="-120"/>
              </a:rPr>
              <a:t>Data-driven insight</a:t>
            </a:r>
            <a:endParaRPr lang="en-US" sz="1650" dirty="0"/>
          </a:p>
        </p:txBody>
      </p:sp>
      <p:sp>
        <p:nvSpPr>
          <p:cNvPr id="10" name="Text 6"/>
          <p:cNvSpPr/>
          <p:nvPr/>
        </p:nvSpPr>
        <p:spPr>
          <a:xfrm>
            <a:off x="851772" y="3701653"/>
            <a:ext cx="3138806" cy="522486"/>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272525"/>
                </a:solidFill>
                <a:latin typeface="Inter" pitchFamily="34" charset="0"/>
                <a:ea typeface="Inter" pitchFamily="34" charset="-122"/>
                <a:cs typeface="Inter" pitchFamily="34" charset="-120"/>
              </a:rPr>
              <a:t>Offers professionals a data-driven glimpse into their career future</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36049" y="2655888"/>
            <a:ext cx="3519499" cy="1758553"/>
          </a:xfrm>
          <a:prstGeom prst="rect">
            <a:avLst/>
          </a:prstGeom>
        </p:spPr>
      </p:pic>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93010" y="2810073"/>
            <a:ext cx="205477" cy="205482"/>
          </a:xfrm>
          <a:prstGeom prst="rect">
            <a:avLst/>
          </a:prstGeom>
        </p:spPr>
      </p:pic>
      <p:sp>
        <p:nvSpPr>
          <p:cNvPr id="13" name="Text 7"/>
          <p:cNvSpPr/>
          <p:nvPr/>
        </p:nvSpPr>
        <p:spPr>
          <a:xfrm>
            <a:off x="4526345" y="3340993"/>
            <a:ext cx="3138905" cy="267593"/>
          </a:xfrm>
          <a:prstGeom prst="rect">
            <a:avLst/>
          </a:prstGeom>
          <a:noFill/>
          <a:ln/>
        </p:spPr>
        <p:txBody>
          <a:bodyPr wrap="none" lIns="0" tIns="0" rIns="0" bIns="0" rtlCol="0" anchor="t"/>
          <a:lstStyle/>
          <a:p>
            <a:pPr algn="l" indent="0" marL="0">
              <a:lnSpc>
                <a:spcPct val="104000"/>
              </a:lnSpc>
              <a:buNone/>
            </a:pPr>
            <a:r>
              <a:rPr lang="en-US" sz="1650" b="1" dirty="0">
                <a:solidFill>
                  <a:srgbClr val="272525"/>
                </a:solidFill>
                <a:latin typeface="Inter Bold" pitchFamily="34" charset="0"/>
                <a:ea typeface="Inter Bold" pitchFamily="34" charset="-122"/>
                <a:cs typeface="Inter Bold" pitchFamily="34" charset="-120"/>
              </a:rPr>
              <a:t>Better decisions</a:t>
            </a:r>
            <a:endParaRPr lang="en-US" sz="1650" dirty="0"/>
          </a:p>
        </p:txBody>
      </p:sp>
      <p:sp>
        <p:nvSpPr>
          <p:cNvPr id="14" name="Text 8"/>
          <p:cNvSpPr/>
          <p:nvPr/>
        </p:nvSpPr>
        <p:spPr>
          <a:xfrm>
            <a:off x="4526345" y="3701653"/>
            <a:ext cx="3138905" cy="522486"/>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272525"/>
                </a:solidFill>
                <a:latin typeface="Inter" pitchFamily="34" charset="0"/>
                <a:ea typeface="Inter" pitchFamily="34" charset="-122"/>
                <a:cs typeface="Inter" pitchFamily="34" charset="-120"/>
              </a:rPr>
              <a:t>Promotes informed decision-making about career progression</a:t>
            </a:r>
            <a:endParaRPr lang="en-US" sz="13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10721" y="2655888"/>
            <a:ext cx="3519499" cy="1758553"/>
          </a:xfrm>
          <a:prstGeom prst="rect">
            <a:avLst/>
          </a:prstGeom>
        </p:spPr>
      </p:pic>
      <p:pic>
        <p:nvPicPr>
          <p:cNvPr id="1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67683" y="2810073"/>
            <a:ext cx="205477" cy="205482"/>
          </a:xfrm>
          <a:prstGeom prst="rect">
            <a:avLst/>
          </a:prstGeom>
        </p:spPr>
      </p:pic>
      <p:sp>
        <p:nvSpPr>
          <p:cNvPr id="17" name="Text 9"/>
          <p:cNvSpPr/>
          <p:nvPr/>
        </p:nvSpPr>
        <p:spPr>
          <a:xfrm>
            <a:off x="8201018" y="3340993"/>
            <a:ext cx="3138905" cy="267593"/>
          </a:xfrm>
          <a:prstGeom prst="rect">
            <a:avLst/>
          </a:prstGeom>
          <a:noFill/>
          <a:ln/>
        </p:spPr>
        <p:txBody>
          <a:bodyPr wrap="none" lIns="0" tIns="0" rIns="0" bIns="0" rtlCol="0" anchor="t"/>
          <a:lstStyle/>
          <a:p>
            <a:pPr algn="l" indent="0" marL="0">
              <a:lnSpc>
                <a:spcPct val="104000"/>
              </a:lnSpc>
              <a:buNone/>
            </a:pPr>
            <a:r>
              <a:rPr lang="en-US" sz="1650" b="1" dirty="0">
                <a:solidFill>
                  <a:srgbClr val="272525"/>
                </a:solidFill>
                <a:latin typeface="Inter Bold" pitchFamily="34" charset="0"/>
                <a:ea typeface="Inter Bold" pitchFamily="34" charset="-122"/>
                <a:cs typeface="Inter Bold" pitchFamily="34" charset="-120"/>
              </a:rPr>
              <a:t>Ongoing growth</a:t>
            </a:r>
            <a:endParaRPr lang="en-US" sz="1650" dirty="0"/>
          </a:p>
        </p:txBody>
      </p:sp>
      <p:sp>
        <p:nvSpPr>
          <p:cNvPr id="18" name="Text 10"/>
          <p:cNvSpPr/>
          <p:nvPr/>
        </p:nvSpPr>
        <p:spPr>
          <a:xfrm>
            <a:off x="8201018" y="3701653"/>
            <a:ext cx="3138905" cy="522486"/>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272525"/>
                </a:solidFill>
                <a:latin typeface="Inter" pitchFamily="34" charset="0"/>
                <a:ea typeface="Inter" pitchFamily="34" charset="-122"/>
                <a:cs typeface="Inter" pitchFamily="34" charset="-120"/>
              </a:rPr>
              <a:t>Encourages skill development and professional growth</a:t>
            </a:r>
            <a:endParaRPr lang="en-US" sz="1300" dirty="0"/>
          </a:p>
        </p:txBody>
      </p:sp>
      <p:sp>
        <p:nvSpPr>
          <p:cNvPr id="19" name="Shape 11"/>
          <p:cNvSpPr/>
          <p:nvPr/>
        </p:nvSpPr>
        <p:spPr>
          <a:xfrm>
            <a:off x="661475" y="4631829"/>
            <a:ext cx="10868745" cy="19050"/>
          </a:xfrm>
          <a:prstGeom prst="roundRect">
            <a:avLst>
              <a:gd name="adj" fmla="val 59999"/>
            </a:avLst>
          </a:prstGeom>
          <a:solidFill>
            <a:srgbClr val="272525">
              <a:alpha val="50000"/>
            </a:srgbClr>
          </a:solidFill>
          <a:ln/>
        </p:spPr>
      </p:sp>
      <p:sp>
        <p:nvSpPr>
          <p:cNvPr id="20" name="Text 12"/>
          <p:cNvSpPr/>
          <p:nvPr/>
        </p:nvSpPr>
        <p:spPr>
          <a:xfrm>
            <a:off x="661475" y="4926409"/>
            <a:ext cx="10868745" cy="267593"/>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Inter Bold" pitchFamily="34" charset="0"/>
                <a:ea typeface="Inter Bold" pitchFamily="34" charset="-122"/>
                <a:cs typeface="Inter Bold" pitchFamily="34" charset="-120"/>
              </a:rPr>
              <a:t>Key takeaways</a:t>
            </a:r>
            <a:endParaRPr lang="en-US" sz="1650" dirty="0"/>
          </a:p>
        </p:txBody>
      </p:sp>
      <p:sp>
        <p:nvSpPr>
          <p:cNvPr id="21" name="Text 13"/>
          <p:cNvSpPr/>
          <p:nvPr/>
        </p:nvSpPr>
        <p:spPr>
          <a:xfrm>
            <a:off x="661475" y="5426770"/>
            <a:ext cx="10868745" cy="892274"/>
          </a:xfrm>
          <a:prstGeom prst="rect">
            <a:avLst/>
          </a:prstGeom>
          <a:noFill/>
          <a:ln/>
        </p:spPr>
        <p:txBody>
          <a:bodyPr wrap="square" lIns="0" tIns="0" rIns="0" bIns="0" rtlCol="0" anchor="t">
            <a:normAutofit/>
          </a:bodyPr>
          <a:lstStyle/>
          <a:p>
            <a:pPr algn="l" marL="264160" indent="-264160">
              <a:lnSpc>
                <a:spcPct val="127000"/>
              </a:lnSpc>
              <a:buSzPct val="100000"/>
              <a:buChar char="•"/>
            </a:pPr>
            <a:r>
              <a:rPr lang="en-US" sz="1300" dirty="0">
                <a:solidFill>
                  <a:srgbClr val="272525"/>
                </a:solidFill>
                <a:latin typeface="Inter" pitchFamily="34" charset="0"/>
                <a:ea typeface="Inter" pitchFamily="34" charset="-122"/>
                <a:cs typeface="Inter" pitchFamily="34" charset="-120"/>
              </a:rPr>
              <a:t>Machine learning can translate complex data into practical career guidance</a:t>
            </a:r>
            <a:endParaRPr lang="en-US" sz="1300" dirty="0"/>
          </a:p>
          <a:p>
            <a:pPr algn="l" marL="264160" indent="-264160">
              <a:lnSpc>
                <a:spcPct val="127000"/>
              </a:lnSpc>
              <a:buSzPct val="100000"/>
              <a:buChar char="•"/>
            </a:pPr>
            <a:r>
              <a:rPr lang="en-US" sz="1300" dirty="0">
                <a:solidFill>
                  <a:srgbClr val="272525"/>
                </a:solidFill>
                <a:latin typeface="Inter" pitchFamily="34" charset="0"/>
                <a:ea typeface="Inter" pitchFamily="34" charset="-122"/>
                <a:cs typeface="Inter" pitchFamily="34" charset="-120"/>
              </a:rPr>
              <a:t>Simple, user-friendly interfaces make insights more accessible</a:t>
            </a:r>
            <a:endParaRPr lang="en-US" sz="1300" dirty="0"/>
          </a:p>
          <a:p>
            <a:pPr algn="l" marL="264160" indent="-264160">
              <a:lnSpc>
                <a:spcPct val="127000"/>
              </a:lnSpc>
              <a:buSzPct val="100000"/>
              <a:buChar char="•"/>
            </a:pPr>
            <a:r>
              <a:rPr lang="en-US" sz="1300" dirty="0">
                <a:solidFill>
                  <a:srgbClr val="272525"/>
                </a:solidFill>
                <a:latin typeface="Inter" pitchFamily="34" charset="0"/>
                <a:ea typeface="Inter" pitchFamily="34" charset="-122"/>
                <a:cs typeface="Inter" pitchFamily="34" charset="-120"/>
              </a:rPr>
              <a:t>Interactive tools support clearer and more confident career planning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661475" y="2235597"/>
            <a:ext cx="1124319" cy="287139"/>
          </a:xfrm>
          <a:prstGeom prst="roundRect">
            <a:avLst>
              <a:gd name="adj" fmla="val 22118"/>
            </a:avLst>
          </a:prstGeom>
          <a:noFill/>
          <a:ln w="6350">
            <a:solidFill>
              <a:srgbClr val="4950BC"/>
            </a:solidFill>
            <a:prstDash val="solid"/>
          </a:ln>
        </p:spPr>
      </p:sp>
      <p:sp>
        <p:nvSpPr>
          <p:cNvPr id="3" name="Text 1"/>
          <p:cNvSpPr/>
          <p:nvPr/>
        </p:nvSpPr>
        <p:spPr>
          <a:xfrm>
            <a:off x="774879" y="2292251"/>
            <a:ext cx="1507095" cy="173831"/>
          </a:xfrm>
          <a:prstGeom prst="rect">
            <a:avLst/>
          </a:prstGeom>
          <a:noFill/>
          <a:ln/>
        </p:spPr>
        <p:txBody>
          <a:bodyPr wrap="none" lIns="0" tIns="0" rIns="0" bIns="0" rtlCol="0" anchor="t"/>
          <a:lstStyle/>
          <a:p>
            <a:pPr algn="l" indent="0" marL="0">
              <a:lnSpc>
                <a:spcPct val="96000"/>
              </a:lnSpc>
              <a:buNone/>
            </a:pPr>
            <a:r>
              <a:rPr lang="en-US" sz="1150" dirty="0">
                <a:solidFill>
                  <a:srgbClr val="4950BC"/>
                </a:solidFill>
                <a:latin typeface="Inter" pitchFamily="34" charset="0"/>
                <a:ea typeface="Inter" pitchFamily="34" charset="-122"/>
                <a:cs typeface="Inter" pitchFamily="34" charset="-120"/>
              </a:rPr>
              <a:t>THANK YOU</a:t>
            </a:r>
            <a:endParaRPr lang="en-US" sz="1150" dirty="0"/>
          </a:p>
        </p:txBody>
      </p:sp>
      <p:sp>
        <p:nvSpPr>
          <p:cNvPr id="4" name="Text 2"/>
          <p:cNvSpPr/>
          <p:nvPr/>
        </p:nvSpPr>
        <p:spPr>
          <a:xfrm>
            <a:off x="661475" y="2598341"/>
            <a:ext cx="10868745" cy="590649"/>
          </a:xfrm>
          <a:prstGeom prst="rect">
            <a:avLst/>
          </a:prstGeom>
          <a:noFill/>
          <a:ln/>
        </p:spPr>
        <p:txBody>
          <a:bodyPr wrap="none" lIns="0" tIns="0" rIns="0" bIns="0" rtlCol="0" anchor="t"/>
          <a:lstStyle/>
          <a:p>
            <a:pPr algn="ctr" indent="0" marL="0">
              <a:lnSpc>
                <a:spcPct val="104000"/>
              </a:lnSpc>
              <a:buNone/>
            </a:pPr>
            <a:r>
              <a:rPr lang="en-US" sz="3700" b="1" dirty="0">
                <a:solidFill>
                  <a:srgbClr val="000000"/>
                </a:solidFill>
                <a:latin typeface="Inter Bold" pitchFamily="34" charset="0"/>
                <a:ea typeface="Inter Bold" pitchFamily="34" charset="-122"/>
                <a:cs typeface="Inter Bold" pitchFamily="34" charset="-120"/>
              </a:rPr>
              <a:t>THANK YOU</a:t>
            </a:r>
            <a:endParaRPr lang="en-US" sz="3700" dirty="0"/>
          </a:p>
        </p:txBody>
      </p:sp>
      <p:sp>
        <p:nvSpPr>
          <p:cNvPr id="5" name="Text 3"/>
          <p:cNvSpPr/>
          <p:nvPr/>
        </p:nvSpPr>
        <p:spPr>
          <a:xfrm>
            <a:off x="356682" y="3472458"/>
            <a:ext cx="11478330" cy="302419"/>
          </a:xfrm>
          <a:prstGeom prst="rect">
            <a:avLst/>
          </a:prstGeom>
          <a:noFill/>
          <a:ln/>
        </p:spPr>
        <p:txBody>
          <a:bodyPr wrap="none" lIns="0" tIns="0" rIns="0" bIns="0" rtlCol="0" anchor="t"/>
          <a:lstStyle/>
          <a:p>
            <a:pPr algn="ctr" indent="0" marL="0">
              <a:lnSpc>
                <a:spcPct val="133000"/>
              </a:lnSpc>
              <a:buNone/>
            </a:pPr>
            <a:r>
              <a:rPr lang="en-US" sz="1450" dirty="0">
                <a:solidFill>
                  <a:srgbClr val="272525"/>
                </a:solidFill>
                <a:latin typeface="Inter" pitchFamily="34" charset="0"/>
                <a:ea typeface="Inter" pitchFamily="34" charset="-122"/>
                <a:cs typeface="Inter" pitchFamily="34" charset="-120"/>
              </a:rPr>
              <a:t>Lahari Potharaju • Tanuja Neelapu • Nikhil Sairam Adari</a:t>
            </a:r>
            <a:endParaRPr lang="en-US" sz="1450" dirty="0"/>
          </a:p>
        </p:txBody>
      </p:sp>
      <p:sp>
        <p:nvSpPr>
          <p:cNvPr id="6" name="Shape 4"/>
          <p:cNvSpPr/>
          <p:nvPr/>
        </p:nvSpPr>
        <p:spPr>
          <a:xfrm>
            <a:off x="661475" y="4034730"/>
            <a:ext cx="10868745" cy="25400"/>
          </a:xfrm>
          <a:prstGeom prst="roundRect">
            <a:avLst>
              <a:gd name="adj" fmla="val 59999"/>
            </a:avLst>
          </a:prstGeom>
          <a:solidFill>
            <a:srgbClr val="272525">
              <a:alpha val="50000"/>
            </a:srgbClr>
          </a:solidFill>
          <a:ln/>
        </p:spPr>
      </p:sp>
      <p:sp>
        <p:nvSpPr>
          <p:cNvPr id="7" name="Text 5"/>
          <p:cNvSpPr/>
          <p:nvPr/>
        </p:nvSpPr>
        <p:spPr>
          <a:xfrm>
            <a:off x="356682" y="4319984"/>
            <a:ext cx="11478330" cy="302419"/>
          </a:xfrm>
          <a:prstGeom prst="rect">
            <a:avLst/>
          </a:prstGeom>
          <a:noFill/>
          <a:ln/>
        </p:spPr>
        <p:txBody>
          <a:bodyPr wrap="none" lIns="0" tIns="0" rIns="0" bIns="0" rtlCol="0" anchor="t"/>
          <a:lstStyle/>
          <a:p>
            <a:pPr algn="ctr" indent="0" marL="0">
              <a:lnSpc>
                <a:spcPct val="133000"/>
              </a:lnSpc>
              <a:buNone/>
            </a:pPr>
            <a:r>
              <a:rPr lang="en-US" sz="1450" b="1" dirty="0">
                <a:solidFill>
                  <a:srgbClr val="272525"/>
                </a:solidFill>
                <a:latin typeface="Inter Bold" pitchFamily="34" charset="0"/>
                <a:ea typeface="Inter Bold" pitchFamily="34" charset="-122"/>
                <a:cs typeface="Inter Bold" pitchFamily="34" charset="-120"/>
              </a:rPr>
              <a:t>CS5610 - Advanced R for Data Science</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2026-07-20T06:50:20Z</dcterms:created>
  <dcterms:modified xsi:type="dcterms:W3CDTF">2026-07-20T06:50:20Z</dcterms:modified>
</cp:coreProperties>
</file>